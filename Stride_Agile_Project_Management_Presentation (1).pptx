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5" r:id="rId6"/>
    <p:sldId id="260" r:id="rId7"/>
    <p:sldId id="261" r:id="rId8"/>
    <p:sldId id="262" r:id="rId9"/>
    <p:sldId id="263" r:id="rId10"/>
    <p:sldId id="266" r:id="rId11"/>
    <p:sldId id="264"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3E74AF6-CBF3-D886-8DA9-869B98FE1DB7}">
          <p14:sldIdLst>
            <p14:sldId id="256"/>
            <p14:sldId id="257"/>
            <p14:sldId id="258"/>
          </p14:sldIdLst>
        </p14:section>
        <p14:section name="Solution and Design" id="{241D5FBE-37EF-EAD3-E5E9-A48E9C89ACD4}">
          <p14:sldIdLst>
            <p14:sldId id="259"/>
            <p14:sldId id="265"/>
            <p14:sldId id="260"/>
            <p14:sldId id="261"/>
            <p14:sldId id="262"/>
          </p14:sldIdLst>
        </p14:section>
        <p14:section name="Outcomes" id="{08EA986E-9D33-81CA-942A-D852A46B9BB1}">
          <p14:sldIdLst>
            <p14:sldId id="263"/>
            <p14:sldId id="266"/>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17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8569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Our project is Stride, an Agile project management system. We built it to give software teams one place to plan work, track progress, and review results during development. I am R. Mirthusha, and with me is Lakshitha K from the Computer Science and Engineering department at Karunya Institute of Technology and Sciences. In the next few minutes we will explain the problem, our solution, how it is built, and what we have tested so far.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teams often use separate tools for tasks, chat, and code, so information ends up scattered. That makes it hard to see sprint progress, which means how much of a short development cycle is finished and what is left over. It is also hard to trace a task to its code commits, its tests, and its release. On top of that, some popular tools are too complex for small teams. So the main problem is the lack of one centralized, simple platform for managing Agile project activities.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objectives follow directly from those problems. We wanted one centralized system where teams can organize projects, backlogs, tasks, and sprints. A backlog is simply the prioritized list of work that still has to be done. We also wanted a Kanban board, which shows tasks as cards moving through columns, so progress is easy to see. Finally, we aimed to support teamwork through discussions and retrospectives, along with quality assurance, release management, and progress reporting.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Stride is our answer: one workspace for the whole software development lifecycle. It has six core modules. Project management and backlog management store and prioritize the work. Sprint planning selects tasks for one development cycle. The Kanban board visualizes progress. Collaboration covers discussions and sprint reviews, and the QA and release module organizes testing and release information. Together, these modules connect planning, building, and delivering.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1F36D-975F-8B01-4682-F135E3A47F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37C853-98CB-BE32-8A85-38ADB48A4E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022F6F-46E6-C558-A4F9-A9F8B13E5512}"/>
              </a:ext>
            </a:extLst>
          </p:cNvPr>
          <p:cNvSpPr>
            <a:spLocks noGrp="1"/>
          </p:cNvSpPr>
          <p:nvPr>
            <p:ph type="body" idx="1"/>
          </p:nvPr>
        </p:nvSpPr>
        <p:spPr/>
        <p:txBody>
          <a:bodyPr/>
          <a:lstStyle/>
          <a:p>
            <a:r>
              <a:rPr lang="en-US" dirty="0"/>
              <a:t>This is our technology stack. On the frontend we use React to build the interactive interface, TypeScript to catch type errors early, Vite for fast development and builds, and Tailwind CSS for styling. On the backend, Node.js runs our JavaScript server, Express.js defines the API routes and handles HTTP requests, and Zod validates incoming data against schemas. For data storage, the application currently saves its data in a local JSON file. Supabase PostgreSQL support exists in the code, but it is not connected yet.</a:t>
            </a:r>
          </a:p>
        </p:txBody>
      </p:sp>
      <p:sp>
        <p:nvSpPr>
          <p:cNvPr id="4" name="Slide Number Placeholder 3">
            <a:extLst>
              <a:ext uri="{FF2B5EF4-FFF2-40B4-BE49-F238E27FC236}">
                <a16:creationId xmlns:a16="http://schemas.microsoft.com/office/drawing/2014/main" id="{0CFDDD0D-6D21-1FD7-8F4C-D5ABCDAE1D96}"/>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41101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Stride's key features. The product backlog holds user stories, tasks, and bugs in priority order. Sprints are time-boxed cycles, and the Kanban board shows each task as To Do, In Progress, or Done. Time tracking records effort spent on work items. For quality, there is test management and defect tracking, plus release management with changelogs. Teams collaborate through discussions and retrospectives. The system also includes support for GitHub, GitLab, and CI/CD workflows, where CI/CD means automated building and delivery of code. These integrations still need to be configured and validated, which we mention in our future scope.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technology stack. On the frontend we use React to build the interactive interface, TypeScript to catch type errors early, Vite for fast development and builds, and Tailwind CSS for styling. On the backend, Node.js runs our JavaScript server, Express.js defines the API routes and handles HTTP requests, and Zod validates incoming data against schemas. For data storage, the application currently saves its data in a local JSON file. Supabase PostgreSQL support exists in the code, but it is not connected yet.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system works. A user interacts with the React frontend. The frontend sends requests through the API, which is a REST API over HTTP, to the Express backend. The backend applies the business logic, such as creating a task or managing a sprint. It also handles authentication, which confirms who the user is, and authorization, which decides what that user is allowed to do. Finally, the storage layer saves and retrieves the data using our current local JSON storage engine.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we built a full-stack web application with React and Express. It covers projects, backlog, sprints, and tasks, plus collaboration, QA, release, and reporting features. According to our project guide, 86 automated tests passed. However, browser-based Playwright testing is not complete, and production deployment and live behavior still need verification, so we are not claiming the system is production-ready. Our next steps are to connect and verify Supabase, finish end-to-end testing, validate the external integrations, and improve cloud persistence, scalability, and monitoring.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D40D6-C917-453B-1467-8BB3F5824D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6C4081-01AE-D357-97AE-BD451D4324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CEC3BA-0EF5-FE54-56F1-5824F344180B}"/>
              </a:ext>
            </a:extLst>
          </p:cNvPr>
          <p:cNvSpPr>
            <a:spLocks noGrp="1"/>
          </p:cNvSpPr>
          <p:nvPr>
            <p:ph type="body" idx="1"/>
          </p:nvPr>
        </p:nvSpPr>
        <p:spPr/>
        <p:txBody>
          <a:bodyPr/>
          <a:lstStyle/>
          <a:p>
            <a:r>
              <a:rPr lang="en-US" dirty="0"/>
              <a:t>This is our technology stack. On the frontend we use React to build the interactive interface, TypeScript to catch type errors early, Vite for fast development and builds, and Tailwind CSS for styling. On the backend, Node.js runs our JavaScript server, Express.js defines the API routes and handles HTTP requests, and Zod validates incoming data against schemas. For data storage, the application currently saves its data in a local JSON file. Supabase PostgreSQL support exists in the code, but it is not connected yet.</a:t>
            </a:r>
          </a:p>
        </p:txBody>
      </p:sp>
      <p:sp>
        <p:nvSpPr>
          <p:cNvPr id="4" name="Slide Number Placeholder 3">
            <a:extLst>
              <a:ext uri="{FF2B5EF4-FFF2-40B4-BE49-F238E27FC236}">
                <a16:creationId xmlns:a16="http://schemas.microsoft.com/office/drawing/2014/main" id="{BD300EAE-42A0-A7E1-CD95-EE76A7609E5F}"/>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0864339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Stride shows how one integrated platform can bring Agile planning, tracking, quality assurance, and release management together. We are happy to answer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TRIDE_TITLE">
    <p:bg>
      <p:bgPr>
        <a:solidFill>
          <a:srgbClr val="EAF7F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914400"/>
            <a:ext cx="4023360" cy="1005840"/>
          </a:xfrm>
          <a:prstGeom prst="rect">
            <a:avLst/>
          </a:prstGeom>
          <a:noFill/>
          <a:ln/>
        </p:spPr>
        <p:txBody>
          <a:bodyPr wrap="square" rtlCol="0"/>
          <a:lstStyle>
            <a:lvl1pPr marL="0" indent="0" algn="l">
              <a:buNone/>
              <a:defRPr lang="en-US" sz="6000" b="1" dirty="0">
                <a:solidFill>
                  <a:schemeClr val="tx2"/>
                </a:solidFill>
              </a:defRPr>
            </a:lvl1pPr>
          </a:lstStyle>
          <a:p>
            <a:pPr marL="0" indent="0" algn="l">
              <a:buNone/>
            </a:pPr>
            <a:endParaRPr lang="en-US" sz="6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RIDE_CONTENT">
    <p:bg>
      <p:bgPr>
        <a:solidFill>
          <a:srgbClr val="EAF7F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3" name="Shape 0"/>
          <p:cNvSpPr/>
          <p:nvPr/>
        </p:nvSpPr>
        <p:spPr>
          <a:xfrm>
            <a:off x="548640" y="4791456"/>
            <a:ext cx="118872" cy="118872"/>
          </a:xfrm>
          <a:prstGeom prst="rect">
            <a:avLst/>
          </a:prstGeom>
          <a:solidFill>
            <a:schemeClr val="accent1"/>
          </a:solidFill>
          <a:ln/>
        </p:spPr>
      </p:sp>
      <p:sp>
        <p:nvSpPr>
          <p:cNvPr id="4" name="Text 1"/>
          <p:cNvSpPr/>
          <p:nvPr/>
        </p:nvSpPr>
        <p:spPr>
          <a:xfrm>
            <a:off x="749808" y="4727448"/>
            <a:ext cx="1463040" cy="246888"/>
          </a:xfrm>
          <a:prstGeom prst="rect">
            <a:avLst/>
          </a:prstGeom>
          <a:noFill/>
          <a:ln/>
        </p:spPr>
        <p:txBody>
          <a:bodyPr wrap="square" lIns="0" tIns="0" rIns="0" bIns="0" rtlCol="0" anchor="ctr"/>
          <a:lstStyle/>
          <a:p>
            <a:pPr marL="0" indent="0">
              <a:buNone/>
            </a:pPr>
            <a:r>
              <a:rPr lang="en-US" sz="1000" b="1" kern="0" spc="300" dirty="0">
                <a:solidFill>
                  <a:schemeClr val="tx2"/>
                </a:solidFill>
              </a:rPr>
              <a:t>STRIDE</a:t>
            </a:r>
            <a:endParaRPr lang="en-US" sz="1000" dirty="0"/>
          </a:p>
        </p:txBody>
      </p:sp>
      <p:sp>
        <p:nvSpPr>
          <p:cNvPr id="25" name="Slide Number Placeholder 0"/>
          <p:cNvSpPr>
            <a:spLocks noGrp="1"/>
          </p:cNvSpPr>
          <p:nvPr>
            <p:ph type="sldNum" sz="quarter" idx="4294967295"/>
          </p:nvPr>
        </p:nvSpPr>
        <p:spPr>
          <a:xfrm>
            <a:off x="8046720" y="4727448"/>
            <a:ext cx="548640" cy="246888"/>
          </a:xfrm>
          <a:prstGeom prst="rect">
            <a:avLst/>
          </a:prstGeom>
          <a:extLst>
            <a:ext uri="{C572A759-6A51-4108-AA02-DFA0A04FC94B}">
              <ma14:wrappingTextBoxFlag xmlns:ma14="http://schemas.microsoft.com/office/mac/drawingml/2011/main" xmlns="" val="0"/>
            </a:ext>
          </a:extLst>
        </p:spPr>
        <p:txBody>
          <a:bodyPr/>
          <a:lstStyle>
            <a:lvl1pPr>
              <a:defRPr sz="1000">
                <a:solidFill>
                  <a:srgbClr val="123D2D"/>
                </a:solidFill>
                <a:latin typeface="Calibri"/>
                <a:ea typeface="Calibri"/>
                <a:cs typeface="Calibri"/>
              </a:defRPr>
            </a:lvl1pPr>
          </a:lstStyle>
          <a:p>
            <a:pPr algn="r"/>
            <a:fld id="{F7021451-1387-4CA6-816F-3879F97B5CBC}" type="slidenum">
              <a:rPr lang="en-US" b="1"/>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RIDE_CLOSING">
    <p:bg>
      <p:bgPr>
        <a:solidFill>
          <a:srgbClr val="123D2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234440"/>
            <a:ext cx="4754880" cy="1005840"/>
          </a:xfrm>
          <a:prstGeom prst="rect">
            <a:avLst/>
          </a:prstGeom>
          <a:noFill/>
          <a:ln/>
        </p:spPr>
        <p:txBody>
          <a:bodyPr wrap="square" rtlCol="0"/>
          <a:lstStyle>
            <a:lvl1pPr marL="0" indent="0" algn="l">
              <a:buNone/>
              <a:defRPr lang="en-US" sz="5600" b="1" dirty="0">
                <a:solidFill>
                  <a:schemeClr val="bg2"/>
                </a:solidFill>
              </a:defRPr>
            </a:lvl1pPr>
          </a:lstStyle>
          <a:p>
            <a:pPr marL="0" indent="0" algn="l">
              <a:buNone/>
            </a:pPr>
            <a:endParaRPr lang="en-US" sz="5600" dirty="0"/>
          </a:p>
        </p:txBody>
      </p:sp>
      <p:sp>
        <p:nvSpPr>
          <p:cNvPr id="3" name="Shape 0"/>
          <p:cNvSpPr/>
          <p:nvPr/>
        </p:nvSpPr>
        <p:spPr>
          <a:xfrm>
            <a:off x="548640" y="4791456"/>
            <a:ext cx="118872" cy="118872"/>
          </a:xfrm>
          <a:prstGeom prst="rect">
            <a:avLst/>
          </a:prstGeom>
          <a:solidFill>
            <a:schemeClr val="accent1"/>
          </a:solidFill>
          <a:ln/>
        </p:spPr>
      </p:sp>
      <p:sp>
        <p:nvSpPr>
          <p:cNvPr id="4" name="Text 1"/>
          <p:cNvSpPr/>
          <p:nvPr/>
        </p:nvSpPr>
        <p:spPr>
          <a:xfrm>
            <a:off x="749808" y="4727448"/>
            <a:ext cx="1463040" cy="246888"/>
          </a:xfrm>
          <a:prstGeom prst="rect">
            <a:avLst/>
          </a:prstGeom>
          <a:noFill/>
          <a:ln/>
        </p:spPr>
        <p:txBody>
          <a:bodyPr wrap="square" lIns="0" tIns="0" rIns="0" bIns="0" rtlCol="0" anchor="ctr"/>
          <a:lstStyle/>
          <a:p>
            <a:pPr marL="0" indent="0">
              <a:buNone/>
            </a:pPr>
            <a:r>
              <a:rPr lang="en-US" sz="1000" b="1" kern="0" spc="300" dirty="0">
                <a:solidFill>
                  <a:schemeClr val="accent2"/>
                </a:solidFill>
              </a:rPr>
              <a:t>STRIDE</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046720" y="4727448"/>
            <a:ext cx="548640" cy="246888"/>
          </a:xfrm>
          <a:prstGeom prst="rect">
            <a:avLst/>
          </a:prstGeom>
          <a:extLst>
            <a:ext uri="{C572A759-6A51-4108-AA02-DFA0A04FC94B}">
              <ma14:wrappingTextBoxFlag xmlns:ma14="http://schemas.microsoft.com/office/mac/drawingml/2011/main" xmlns="" val="0"/>
            </a:ext>
          </a:extLst>
        </p:spPr>
        <p:txBody>
          <a:bodyPr/>
          <a:lstStyle>
            <a:lvl1pPr>
              <a:defRPr sz="1000">
                <a:solidFill>
                  <a:srgbClr val="123D2D"/>
                </a:solidFill>
                <a:latin typeface="Calibri"/>
                <a:ea typeface="Calibri"/>
                <a:cs typeface="Calibri"/>
              </a:defRPr>
            </a:lvl1pPr>
          </a:lstStyle>
          <a:p>
            <a:pPr algn="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9.png"/><Relationship Id="rId10" Type="http://schemas.openxmlformats.org/officeDocument/2006/relationships/image" Target="../media/image16.png"/><Relationship Id="rId4" Type="http://schemas.openxmlformats.org/officeDocument/2006/relationships/image" Target="../media/image8.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hyperlink" Target="https://doi.org/10.1145/3672608.3707952?utm_source=chatgpt.com" TargetMode="External"/><Relationship Id="rId5" Type="http://schemas.openxmlformats.org/officeDocument/2006/relationships/hyperlink" Target="https://doi.org/10.1007/s00766-023-00408-9?utm_source=chatgpt.com" TargetMode="External"/><Relationship Id="rId4" Type="http://schemas.openxmlformats.org/officeDocument/2006/relationships/hyperlink" Target="https://doi.org/10.1007/s10664-016-9464-2?utm_source=chatgpt.com"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914400"/>
            <a:ext cx="4023360" cy="1005840"/>
          </a:xfrm>
          <a:prstGeom prst="rect">
            <a:avLst/>
          </a:prstGeom>
          <a:noFill/>
          <a:ln/>
        </p:spPr>
        <p:txBody>
          <a:bodyPr wrap="square" lIns="0" tIns="0" rIns="0" bIns="0" rtlCol="0" anchor="ctr"/>
          <a:lstStyle/>
          <a:p>
            <a:pPr marL="0" indent="0" algn="l">
              <a:buNone/>
            </a:pPr>
            <a:r>
              <a:rPr lang="en-US" sz="6000" b="1" dirty="0">
                <a:solidFill>
                  <a:schemeClr val="tx2"/>
                </a:solidFill>
              </a:rPr>
              <a:t>Stride</a:t>
            </a:r>
            <a:endParaRPr lang="en-US" sz="6000" dirty="0"/>
          </a:p>
        </p:txBody>
      </p:sp>
      <p:sp>
        <p:nvSpPr>
          <p:cNvPr id="3" name="Subtitle"/>
          <p:cNvSpPr txBox="1"/>
          <p:nvPr/>
        </p:nvSpPr>
        <p:spPr>
          <a:xfrm>
            <a:off x="548640" y="1965960"/>
            <a:ext cx="4023360" cy="411480"/>
          </a:xfrm>
          <a:prstGeom prst="rect">
            <a:avLst/>
          </a:prstGeom>
          <a:noFill/>
          <a:ln/>
        </p:spPr>
        <p:txBody>
          <a:bodyPr wrap="square" lIns="0" tIns="0" rIns="0" bIns="0" rtlCol="0" anchor="t"/>
          <a:lstStyle/>
          <a:p>
            <a:pPr marL="0" indent="0" algn="l">
              <a:buNone/>
            </a:pPr>
            <a:r>
              <a:rPr lang="en-US" sz="2200" b="1" dirty="0">
                <a:solidFill>
                  <a:schemeClr val="accent1"/>
                </a:solidFill>
              </a:rPr>
              <a:t>Agile Project Management System</a:t>
            </a:r>
            <a:endParaRPr lang="en-US" sz="2200" dirty="0"/>
          </a:p>
        </p:txBody>
      </p:sp>
      <p:sp>
        <p:nvSpPr>
          <p:cNvPr id="4" name="Presenters card"/>
          <p:cNvSpPr/>
          <p:nvPr/>
        </p:nvSpPr>
        <p:spPr>
          <a:xfrm>
            <a:off x="548640" y="2651760"/>
            <a:ext cx="4023360" cy="1188720"/>
          </a:xfrm>
          <a:prstGeom prst="roundRect">
            <a:avLst>
              <a:gd name="adj" fmla="val 9231"/>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5" name="Presenters"/>
          <p:cNvSpPr txBox="1"/>
          <p:nvPr/>
        </p:nvSpPr>
        <p:spPr>
          <a:xfrm>
            <a:off x="777240" y="2788920"/>
            <a:ext cx="3566160" cy="960120"/>
          </a:xfrm>
          <a:prstGeom prst="rect">
            <a:avLst/>
          </a:prstGeom>
          <a:noFill/>
          <a:ln/>
        </p:spPr>
        <p:txBody>
          <a:bodyPr wrap="square" lIns="0" tIns="0" rIns="0" bIns="0" rtlCol="0" anchor="t"/>
          <a:lstStyle/>
          <a:p>
            <a:pPr marL="0" indent="0" algn="l">
              <a:spcAft>
                <a:spcPts val="400"/>
              </a:spcAft>
              <a:buNone/>
            </a:pPr>
            <a:r>
              <a:rPr lang="en-US" sz="1000" b="1" dirty="0">
                <a:solidFill>
                  <a:schemeClr val="accent5"/>
                </a:solidFill>
              </a:rPr>
              <a:t>PRESENTED BY</a:t>
            </a:r>
            <a:endParaRPr lang="en-US" sz="1000" dirty="0"/>
          </a:p>
          <a:p>
            <a:pPr marL="0" indent="0" algn="l">
              <a:spcAft>
                <a:spcPts val="300"/>
              </a:spcAft>
              <a:buNone/>
            </a:pPr>
            <a:r>
              <a:rPr lang="en-US" sz="1500" dirty="0" err="1">
                <a:solidFill>
                  <a:schemeClr val="tx1"/>
                </a:solidFill>
              </a:rPr>
              <a:t>Mirthusha</a:t>
            </a:r>
            <a:r>
              <a:rPr lang="en-US" sz="1500" dirty="0">
                <a:solidFill>
                  <a:schemeClr val="tx1"/>
                </a:solidFill>
              </a:rPr>
              <a:t> R —  </a:t>
            </a:r>
            <a:r>
              <a:rPr lang="en-US" sz="1500" b="1" dirty="0">
                <a:solidFill>
                  <a:schemeClr val="accent1"/>
                </a:solidFill>
              </a:rPr>
              <a:t>URK25CS6006</a:t>
            </a:r>
            <a:endParaRPr lang="en-US" sz="1000" dirty="0"/>
          </a:p>
          <a:p>
            <a:pPr marL="0" indent="0" algn="l">
              <a:buNone/>
            </a:pPr>
            <a:r>
              <a:rPr lang="en-US" sz="1500" dirty="0">
                <a:solidFill>
                  <a:schemeClr val="tx1"/>
                </a:solidFill>
              </a:rPr>
              <a:t>Lakshitha K  —  </a:t>
            </a:r>
            <a:r>
              <a:rPr lang="en-US" sz="1500" b="1" dirty="0">
                <a:solidFill>
                  <a:schemeClr val="accent1"/>
                </a:solidFill>
              </a:rPr>
              <a:t>URK25CS6014</a:t>
            </a:r>
            <a:endParaRPr lang="en-US" sz="1000" dirty="0"/>
          </a:p>
        </p:txBody>
      </p:sp>
      <p:sp>
        <p:nvSpPr>
          <p:cNvPr id="6" name="Institution"/>
          <p:cNvSpPr txBox="1"/>
          <p:nvPr/>
        </p:nvSpPr>
        <p:spPr>
          <a:xfrm>
            <a:off x="548640" y="4023360"/>
            <a:ext cx="4206240" cy="548640"/>
          </a:xfrm>
          <a:prstGeom prst="rect">
            <a:avLst/>
          </a:prstGeom>
          <a:noFill/>
          <a:ln/>
        </p:spPr>
        <p:txBody>
          <a:bodyPr wrap="square" lIns="0" tIns="0" rIns="0" bIns="0" rtlCol="0" anchor="t"/>
          <a:lstStyle/>
          <a:p>
            <a:pPr marL="0" indent="0" algn="l">
              <a:spcAft>
                <a:spcPts val="200"/>
              </a:spcAft>
              <a:buNone/>
            </a:pPr>
            <a:r>
              <a:rPr lang="en-US" sz="1200" dirty="0">
                <a:solidFill>
                  <a:schemeClr val="tx1"/>
                </a:solidFill>
              </a:rPr>
              <a:t>Department of Computer Science and Engineering</a:t>
            </a:r>
            <a:endParaRPr lang="en-US" sz="1200" dirty="0"/>
          </a:p>
          <a:p>
            <a:pPr marL="0" indent="0" algn="l">
              <a:buNone/>
            </a:pPr>
            <a:r>
              <a:rPr lang="en-US" sz="1200" b="1" dirty="0">
                <a:solidFill>
                  <a:schemeClr val="tx2"/>
                </a:solidFill>
              </a:rPr>
              <a:t>Karunya Institute of Technology and Sciences</a:t>
            </a:r>
            <a:endParaRPr lang="en-US" sz="1200" dirty="0"/>
          </a:p>
        </p:txBody>
      </p:sp>
      <p:sp>
        <p:nvSpPr>
          <p:cNvPr id="7" name="Dashboard mockup"/>
          <p:cNvSpPr/>
          <p:nvPr/>
        </p:nvSpPr>
        <p:spPr>
          <a:xfrm>
            <a:off x="4983480" y="685800"/>
            <a:ext cx="3611880" cy="3657600"/>
          </a:xfrm>
          <a:prstGeom prst="roundRect">
            <a:avLst>
              <a:gd name="adj" fmla="val 3038"/>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8" name="Mock dot 1"/>
          <p:cNvSpPr/>
          <p:nvPr/>
        </p:nvSpPr>
        <p:spPr>
          <a:xfrm>
            <a:off x="5184648" y="868680"/>
            <a:ext cx="100584" cy="100584"/>
          </a:xfrm>
          <a:prstGeom prst="ellipse">
            <a:avLst/>
          </a:prstGeom>
          <a:solidFill>
            <a:schemeClr val="accent1"/>
          </a:solidFill>
          <a:ln/>
        </p:spPr>
      </p:sp>
      <p:sp>
        <p:nvSpPr>
          <p:cNvPr id="9" name="Mock dot 2"/>
          <p:cNvSpPr/>
          <p:nvPr/>
        </p:nvSpPr>
        <p:spPr>
          <a:xfrm>
            <a:off x="5367528" y="868680"/>
            <a:ext cx="100584" cy="100584"/>
          </a:xfrm>
          <a:prstGeom prst="ellipse">
            <a:avLst/>
          </a:prstGeom>
          <a:solidFill>
            <a:schemeClr val="accent2"/>
          </a:solidFill>
          <a:ln/>
        </p:spPr>
      </p:sp>
      <p:sp>
        <p:nvSpPr>
          <p:cNvPr id="10" name="Mock dot 3"/>
          <p:cNvSpPr/>
          <p:nvPr/>
        </p:nvSpPr>
        <p:spPr>
          <a:xfrm>
            <a:off x="5550408" y="868680"/>
            <a:ext cx="100584" cy="100584"/>
          </a:xfrm>
          <a:prstGeom prst="ellipse">
            <a:avLst/>
          </a:prstGeom>
          <a:solidFill>
            <a:schemeClr val="accent2"/>
          </a:solidFill>
          <a:ln/>
        </p:spPr>
      </p:sp>
      <p:sp>
        <p:nvSpPr>
          <p:cNvPr id="11" name="Mock title"/>
          <p:cNvSpPr txBox="1"/>
          <p:nvPr/>
        </p:nvSpPr>
        <p:spPr>
          <a:xfrm>
            <a:off x="5897880" y="804672"/>
            <a:ext cx="2468880" cy="237744"/>
          </a:xfrm>
          <a:prstGeom prst="rect">
            <a:avLst/>
          </a:prstGeom>
          <a:noFill/>
          <a:ln/>
        </p:spPr>
        <p:txBody>
          <a:bodyPr wrap="square" lIns="0" tIns="0" rIns="0" bIns="0" rtlCol="0" anchor="ctr"/>
          <a:lstStyle/>
          <a:p>
            <a:pPr marL="0" indent="0" algn="r">
              <a:buNone/>
            </a:pPr>
            <a:r>
              <a:rPr lang="en-US" sz="1100" b="1" dirty="0">
                <a:solidFill>
                  <a:schemeClr val="tx2"/>
                </a:solidFill>
              </a:rPr>
              <a:t>Sprint Board</a:t>
            </a:r>
            <a:endParaRPr lang="en-US" sz="1100" dirty="0"/>
          </a:p>
        </p:txBody>
      </p:sp>
      <p:sp>
        <p:nvSpPr>
          <p:cNvPr id="12" name="Mock column To Do"/>
          <p:cNvSpPr/>
          <p:nvPr/>
        </p:nvSpPr>
        <p:spPr>
          <a:xfrm>
            <a:off x="5184648" y="1234440"/>
            <a:ext cx="1005840" cy="2514600"/>
          </a:xfrm>
          <a:prstGeom prst="roundRect">
            <a:avLst>
              <a:gd name="adj" fmla="val 7273"/>
            </a:avLst>
          </a:prstGeom>
          <a:solidFill>
            <a:schemeClr val="bg2"/>
          </a:solidFill>
          <a:ln/>
        </p:spPr>
      </p:sp>
      <p:sp>
        <p:nvSpPr>
          <p:cNvPr id="13" name="Mock header To Do"/>
          <p:cNvSpPr txBox="1"/>
          <p:nvPr/>
        </p:nvSpPr>
        <p:spPr>
          <a:xfrm>
            <a:off x="5276088" y="1307592"/>
            <a:ext cx="822960" cy="228600"/>
          </a:xfrm>
          <a:prstGeom prst="rect">
            <a:avLst/>
          </a:prstGeom>
          <a:noFill/>
          <a:ln/>
        </p:spPr>
        <p:txBody>
          <a:bodyPr wrap="square" lIns="0" tIns="0" rIns="0" bIns="0" rtlCol="0" anchor="ctr"/>
          <a:lstStyle/>
          <a:p>
            <a:pPr marL="0" indent="0" algn="l">
              <a:buNone/>
            </a:pPr>
            <a:r>
              <a:rPr lang="en-US" sz="1000" b="1" dirty="0">
                <a:solidFill>
                  <a:schemeClr val="tx2"/>
                </a:solidFill>
              </a:rPr>
              <a:t>To Do</a:t>
            </a:r>
            <a:endParaRPr lang="en-US" sz="1000" dirty="0"/>
          </a:p>
        </p:txBody>
      </p:sp>
      <p:sp>
        <p:nvSpPr>
          <p:cNvPr id="14" name="Mock task To Do 1"/>
          <p:cNvSpPr/>
          <p:nvPr/>
        </p:nvSpPr>
        <p:spPr>
          <a:xfrm>
            <a:off x="5257800" y="1600200"/>
            <a:ext cx="859536" cy="621792"/>
          </a:xfrm>
          <a:prstGeom prst="roundRect">
            <a:avLst>
              <a:gd name="adj" fmla="val 8824"/>
            </a:avLst>
          </a:prstGeom>
          <a:solidFill>
            <a:schemeClr val="bg1"/>
          </a:solidFill>
          <a:ln w="9525">
            <a:solidFill>
              <a:schemeClr val="accent2"/>
            </a:solidFill>
            <a:prstDash val="solid"/>
          </a:ln>
        </p:spPr>
      </p:sp>
      <p:sp>
        <p:nvSpPr>
          <p:cNvPr id="15" name="Mock chip"/>
          <p:cNvSpPr/>
          <p:nvPr/>
        </p:nvSpPr>
        <p:spPr>
          <a:xfrm>
            <a:off x="5340096" y="1728216"/>
            <a:ext cx="457200" cy="91440"/>
          </a:xfrm>
          <a:prstGeom prst="roundRect">
            <a:avLst>
              <a:gd name="adj" fmla="val 50000"/>
            </a:avLst>
          </a:prstGeom>
          <a:solidFill>
            <a:schemeClr val="accent2"/>
          </a:solidFill>
          <a:ln/>
        </p:spPr>
      </p:sp>
      <p:sp>
        <p:nvSpPr>
          <p:cNvPr id="16" name="Mock line a"/>
          <p:cNvSpPr/>
          <p:nvPr/>
        </p:nvSpPr>
        <p:spPr>
          <a:xfrm>
            <a:off x="5340096" y="1892808"/>
            <a:ext cx="694944" cy="64008"/>
          </a:xfrm>
          <a:prstGeom prst="roundRect">
            <a:avLst>
              <a:gd name="adj" fmla="val 50000"/>
            </a:avLst>
          </a:prstGeom>
          <a:solidFill>
            <a:schemeClr val="accent6"/>
          </a:solidFill>
          <a:ln/>
        </p:spPr>
      </p:sp>
      <p:sp>
        <p:nvSpPr>
          <p:cNvPr id="17" name="Mock line b"/>
          <p:cNvSpPr/>
          <p:nvPr/>
        </p:nvSpPr>
        <p:spPr>
          <a:xfrm>
            <a:off x="5340096" y="2020824"/>
            <a:ext cx="416966" cy="64008"/>
          </a:xfrm>
          <a:prstGeom prst="roundRect">
            <a:avLst>
              <a:gd name="adj" fmla="val 50000"/>
            </a:avLst>
          </a:prstGeom>
          <a:solidFill>
            <a:schemeClr val="accent6"/>
          </a:solidFill>
          <a:ln/>
        </p:spPr>
      </p:sp>
      <p:sp>
        <p:nvSpPr>
          <p:cNvPr id="18" name="Mock task To Do 2"/>
          <p:cNvSpPr/>
          <p:nvPr/>
        </p:nvSpPr>
        <p:spPr>
          <a:xfrm>
            <a:off x="5257800" y="2313432"/>
            <a:ext cx="859536" cy="621792"/>
          </a:xfrm>
          <a:prstGeom prst="roundRect">
            <a:avLst>
              <a:gd name="adj" fmla="val 8824"/>
            </a:avLst>
          </a:prstGeom>
          <a:solidFill>
            <a:schemeClr val="bg1"/>
          </a:solidFill>
          <a:ln w="9525">
            <a:solidFill>
              <a:schemeClr val="accent2"/>
            </a:solidFill>
            <a:prstDash val="solid"/>
          </a:ln>
        </p:spPr>
      </p:sp>
      <p:sp>
        <p:nvSpPr>
          <p:cNvPr id="19" name="Mock chip"/>
          <p:cNvSpPr/>
          <p:nvPr/>
        </p:nvSpPr>
        <p:spPr>
          <a:xfrm>
            <a:off x="5340096" y="2441448"/>
            <a:ext cx="457200" cy="91440"/>
          </a:xfrm>
          <a:prstGeom prst="roundRect">
            <a:avLst>
              <a:gd name="adj" fmla="val 50000"/>
            </a:avLst>
          </a:prstGeom>
          <a:solidFill>
            <a:schemeClr val="accent2"/>
          </a:solidFill>
          <a:ln/>
        </p:spPr>
      </p:sp>
      <p:sp>
        <p:nvSpPr>
          <p:cNvPr id="20" name="Mock line a"/>
          <p:cNvSpPr/>
          <p:nvPr/>
        </p:nvSpPr>
        <p:spPr>
          <a:xfrm>
            <a:off x="5340096" y="2606040"/>
            <a:ext cx="694944" cy="64008"/>
          </a:xfrm>
          <a:prstGeom prst="roundRect">
            <a:avLst>
              <a:gd name="adj" fmla="val 50000"/>
            </a:avLst>
          </a:prstGeom>
          <a:solidFill>
            <a:schemeClr val="accent6"/>
          </a:solidFill>
          <a:ln/>
        </p:spPr>
      </p:sp>
      <p:sp>
        <p:nvSpPr>
          <p:cNvPr id="21" name="Mock line b"/>
          <p:cNvSpPr/>
          <p:nvPr/>
        </p:nvSpPr>
        <p:spPr>
          <a:xfrm>
            <a:off x="5340096" y="2734056"/>
            <a:ext cx="416966" cy="64008"/>
          </a:xfrm>
          <a:prstGeom prst="roundRect">
            <a:avLst>
              <a:gd name="adj" fmla="val 50000"/>
            </a:avLst>
          </a:prstGeom>
          <a:solidFill>
            <a:schemeClr val="accent6"/>
          </a:solidFill>
          <a:ln/>
        </p:spPr>
      </p:sp>
      <p:sp>
        <p:nvSpPr>
          <p:cNvPr id="22" name="Mock task To Do 3"/>
          <p:cNvSpPr/>
          <p:nvPr/>
        </p:nvSpPr>
        <p:spPr>
          <a:xfrm>
            <a:off x="5257800" y="3026664"/>
            <a:ext cx="859536" cy="621792"/>
          </a:xfrm>
          <a:prstGeom prst="roundRect">
            <a:avLst>
              <a:gd name="adj" fmla="val 8824"/>
            </a:avLst>
          </a:prstGeom>
          <a:solidFill>
            <a:schemeClr val="bg1"/>
          </a:solidFill>
          <a:ln w="9525">
            <a:solidFill>
              <a:schemeClr val="accent2"/>
            </a:solidFill>
            <a:prstDash val="solid"/>
          </a:ln>
        </p:spPr>
      </p:sp>
      <p:sp>
        <p:nvSpPr>
          <p:cNvPr id="23" name="Mock chip"/>
          <p:cNvSpPr/>
          <p:nvPr/>
        </p:nvSpPr>
        <p:spPr>
          <a:xfrm>
            <a:off x="5340096" y="3154680"/>
            <a:ext cx="457200" cy="91440"/>
          </a:xfrm>
          <a:prstGeom prst="roundRect">
            <a:avLst>
              <a:gd name="adj" fmla="val 50000"/>
            </a:avLst>
          </a:prstGeom>
          <a:solidFill>
            <a:schemeClr val="accent2"/>
          </a:solidFill>
          <a:ln/>
        </p:spPr>
      </p:sp>
      <p:sp>
        <p:nvSpPr>
          <p:cNvPr id="24" name="Mock line a"/>
          <p:cNvSpPr/>
          <p:nvPr/>
        </p:nvSpPr>
        <p:spPr>
          <a:xfrm>
            <a:off x="5340096" y="3319272"/>
            <a:ext cx="694944" cy="64008"/>
          </a:xfrm>
          <a:prstGeom prst="roundRect">
            <a:avLst>
              <a:gd name="adj" fmla="val 50000"/>
            </a:avLst>
          </a:prstGeom>
          <a:solidFill>
            <a:schemeClr val="accent6"/>
          </a:solidFill>
          <a:ln/>
        </p:spPr>
      </p:sp>
      <p:sp>
        <p:nvSpPr>
          <p:cNvPr id="25" name="Mock line b"/>
          <p:cNvSpPr/>
          <p:nvPr/>
        </p:nvSpPr>
        <p:spPr>
          <a:xfrm>
            <a:off x="5340096" y="3447288"/>
            <a:ext cx="416966" cy="64008"/>
          </a:xfrm>
          <a:prstGeom prst="roundRect">
            <a:avLst>
              <a:gd name="adj" fmla="val 50000"/>
            </a:avLst>
          </a:prstGeom>
          <a:solidFill>
            <a:schemeClr val="accent6"/>
          </a:solidFill>
          <a:ln/>
        </p:spPr>
      </p:sp>
      <p:sp>
        <p:nvSpPr>
          <p:cNvPr id="26" name="Mock column In Progress"/>
          <p:cNvSpPr/>
          <p:nvPr/>
        </p:nvSpPr>
        <p:spPr>
          <a:xfrm>
            <a:off x="6281928" y="1234440"/>
            <a:ext cx="1005840" cy="2514600"/>
          </a:xfrm>
          <a:prstGeom prst="roundRect">
            <a:avLst>
              <a:gd name="adj" fmla="val 7273"/>
            </a:avLst>
          </a:prstGeom>
          <a:solidFill>
            <a:schemeClr val="bg2"/>
          </a:solidFill>
          <a:ln/>
        </p:spPr>
      </p:sp>
      <p:sp>
        <p:nvSpPr>
          <p:cNvPr id="27" name="Mock header In Progress"/>
          <p:cNvSpPr txBox="1"/>
          <p:nvPr/>
        </p:nvSpPr>
        <p:spPr>
          <a:xfrm>
            <a:off x="6373368" y="1307592"/>
            <a:ext cx="822960" cy="228600"/>
          </a:xfrm>
          <a:prstGeom prst="rect">
            <a:avLst/>
          </a:prstGeom>
          <a:noFill/>
          <a:ln/>
        </p:spPr>
        <p:txBody>
          <a:bodyPr wrap="square" lIns="0" tIns="0" rIns="0" bIns="0" rtlCol="0" anchor="ctr"/>
          <a:lstStyle/>
          <a:p>
            <a:pPr marL="0" indent="0" algn="l">
              <a:buNone/>
            </a:pPr>
            <a:r>
              <a:rPr lang="en-US" sz="1000" b="1" dirty="0">
                <a:solidFill>
                  <a:schemeClr val="tx2"/>
                </a:solidFill>
              </a:rPr>
              <a:t>In Progress</a:t>
            </a:r>
            <a:endParaRPr lang="en-US" sz="1000" dirty="0"/>
          </a:p>
        </p:txBody>
      </p:sp>
      <p:sp>
        <p:nvSpPr>
          <p:cNvPr id="28" name="Mock task In Progress 1"/>
          <p:cNvSpPr/>
          <p:nvPr/>
        </p:nvSpPr>
        <p:spPr>
          <a:xfrm>
            <a:off x="6355080" y="1600200"/>
            <a:ext cx="859536" cy="621792"/>
          </a:xfrm>
          <a:prstGeom prst="roundRect">
            <a:avLst>
              <a:gd name="adj" fmla="val 8824"/>
            </a:avLst>
          </a:prstGeom>
          <a:solidFill>
            <a:schemeClr val="bg1"/>
          </a:solidFill>
          <a:ln w="9525">
            <a:solidFill>
              <a:schemeClr val="accent2"/>
            </a:solidFill>
            <a:prstDash val="solid"/>
          </a:ln>
        </p:spPr>
      </p:sp>
      <p:sp>
        <p:nvSpPr>
          <p:cNvPr id="29" name="Mock chip"/>
          <p:cNvSpPr/>
          <p:nvPr/>
        </p:nvSpPr>
        <p:spPr>
          <a:xfrm>
            <a:off x="6437376" y="1728216"/>
            <a:ext cx="457200" cy="91440"/>
          </a:xfrm>
          <a:prstGeom prst="roundRect">
            <a:avLst>
              <a:gd name="adj" fmla="val 50000"/>
            </a:avLst>
          </a:prstGeom>
          <a:solidFill>
            <a:schemeClr val="accent1"/>
          </a:solidFill>
          <a:ln/>
        </p:spPr>
      </p:sp>
      <p:sp>
        <p:nvSpPr>
          <p:cNvPr id="30" name="Mock line a"/>
          <p:cNvSpPr/>
          <p:nvPr/>
        </p:nvSpPr>
        <p:spPr>
          <a:xfrm>
            <a:off x="6437376" y="1892808"/>
            <a:ext cx="694944" cy="64008"/>
          </a:xfrm>
          <a:prstGeom prst="roundRect">
            <a:avLst>
              <a:gd name="adj" fmla="val 50000"/>
            </a:avLst>
          </a:prstGeom>
          <a:solidFill>
            <a:schemeClr val="accent6"/>
          </a:solidFill>
          <a:ln/>
        </p:spPr>
      </p:sp>
      <p:sp>
        <p:nvSpPr>
          <p:cNvPr id="31" name="Mock line b"/>
          <p:cNvSpPr/>
          <p:nvPr/>
        </p:nvSpPr>
        <p:spPr>
          <a:xfrm>
            <a:off x="6437376" y="2020824"/>
            <a:ext cx="416966" cy="64008"/>
          </a:xfrm>
          <a:prstGeom prst="roundRect">
            <a:avLst>
              <a:gd name="adj" fmla="val 50000"/>
            </a:avLst>
          </a:prstGeom>
          <a:solidFill>
            <a:schemeClr val="accent6"/>
          </a:solidFill>
          <a:ln/>
        </p:spPr>
      </p:sp>
      <p:sp>
        <p:nvSpPr>
          <p:cNvPr id="32" name="Mock task In Progress 2"/>
          <p:cNvSpPr/>
          <p:nvPr/>
        </p:nvSpPr>
        <p:spPr>
          <a:xfrm>
            <a:off x="6355080" y="2313432"/>
            <a:ext cx="859536" cy="621792"/>
          </a:xfrm>
          <a:prstGeom prst="roundRect">
            <a:avLst>
              <a:gd name="adj" fmla="val 8824"/>
            </a:avLst>
          </a:prstGeom>
          <a:solidFill>
            <a:schemeClr val="bg1"/>
          </a:solidFill>
          <a:ln w="9525">
            <a:solidFill>
              <a:schemeClr val="accent2"/>
            </a:solidFill>
            <a:prstDash val="solid"/>
          </a:ln>
        </p:spPr>
      </p:sp>
      <p:sp>
        <p:nvSpPr>
          <p:cNvPr id="33" name="Mock chip"/>
          <p:cNvSpPr/>
          <p:nvPr/>
        </p:nvSpPr>
        <p:spPr>
          <a:xfrm>
            <a:off x="6437376" y="2441448"/>
            <a:ext cx="457200" cy="91440"/>
          </a:xfrm>
          <a:prstGeom prst="roundRect">
            <a:avLst>
              <a:gd name="adj" fmla="val 50000"/>
            </a:avLst>
          </a:prstGeom>
          <a:solidFill>
            <a:schemeClr val="accent1"/>
          </a:solidFill>
          <a:ln/>
        </p:spPr>
      </p:sp>
      <p:sp>
        <p:nvSpPr>
          <p:cNvPr id="34" name="Mock line a"/>
          <p:cNvSpPr/>
          <p:nvPr/>
        </p:nvSpPr>
        <p:spPr>
          <a:xfrm>
            <a:off x="6437376" y="2606040"/>
            <a:ext cx="694944" cy="64008"/>
          </a:xfrm>
          <a:prstGeom prst="roundRect">
            <a:avLst>
              <a:gd name="adj" fmla="val 50000"/>
            </a:avLst>
          </a:prstGeom>
          <a:solidFill>
            <a:schemeClr val="accent6"/>
          </a:solidFill>
          <a:ln/>
        </p:spPr>
      </p:sp>
      <p:sp>
        <p:nvSpPr>
          <p:cNvPr id="35" name="Mock line b"/>
          <p:cNvSpPr/>
          <p:nvPr/>
        </p:nvSpPr>
        <p:spPr>
          <a:xfrm>
            <a:off x="6437376" y="2734056"/>
            <a:ext cx="416966" cy="64008"/>
          </a:xfrm>
          <a:prstGeom prst="roundRect">
            <a:avLst>
              <a:gd name="adj" fmla="val 50000"/>
            </a:avLst>
          </a:prstGeom>
          <a:solidFill>
            <a:schemeClr val="accent6"/>
          </a:solidFill>
          <a:ln/>
        </p:spPr>
      </p:sp>
      <p:sp>
        <p:nvSpPr>
          <p:cNvPr id="36" name="Mock column Done"/>
          <p:cNvSpPr/>
          <p:nvPr/>
        </p:nvSpPr>
        <p:spPr>
          <a:xfrm>
            <a:off x="7379208" y="1234440"/>
            <a:ext cx="1005840" cy="2514600"/>
          </a:xfrm>
          <a:prstGeom prst="roundRect">
            <a:avLst>
              <a:gd name="adj" fmla="val 7273"/>
            </a:avLst>
          </a:prstGeom>
          <a:solidFill>
            <a:schemeClr val="bg2"/>
          </a:solidFill>
          <a:ln/>
        </p:spPr>
      </p:sp>
      <p:sp>
        <p:nvSpPr>
          <p:cNvPr id="37" name="Mock header Done"/>
          <p:cNvSpPr txBox="1"/>
          <p:nvPr/>
        </p:nvSpPr>
        <p:spPr>
          <a:xfrm>
            <a:off x="7470648" y="1307592"/>
            <a:ext cx="822960" cy="228600"/>
          </a:xfrm>
          <a:prstGeom prst="rect">
            <a:avLst/>
          </a:prstGeom>
          <a:noFill/>
          <a:ln/>
        </p:spPr>
        <p:txBody>
          <a:bodyPr wrap="square" lIns="0" tIns="0" rIns="0" bIns="0" rtlCol="0" anchor="ctr"/>
          <a:lstStyle/>
          <a:p>
            <a:pPr marL="0" indent="0" algn="l">
              <a:buNone/>
            </a:pPr>
            <a:r>
              <a:rPr lang="en-US" sz="1000" b="1" dirty="0">
                <a:solidFill>
                  <a:schemeClr val="tx2"/>
                </a:solidFill>
              </a:rPr>
              <a:t>Done</a:t>
            </a:r>
            <a:endParaRPr lang="en-US" sz="1000" dirty="0"/>
          </a:p>
        </p:txBody>
      </p:sp>
      <p:sp>
        <p:nvSpPr>
          <p:cNvPr id="38" name="Mock task Done 1"/>
          <p:cNvSpPr/>
          <p:nvPr/>
        </p:nvSpPr>
        <p:spPr>
          <a:xfrm>
            <a:off x="7452360" y="1600200"/>
            <a:ext cx="859536" cy="621792"/>
          </a:xfrm>
          <a:prstGeom prst="roundRect">
            <a:avLst>
              <a:gd name="adj" fmla="val 8824"/>
            </a:avLst>
          </a:prstGeom>
          <a:solidFill>
            <a:schemeClr val="bg1"/>
          </a:solidFill>
          <a:ln w="9525">
            <a:solidFill>
              <a:schemeClr val="accent2"/>
            </a:solidFill>
            <a:prstDash val="solid"/>
          </a:ln>
        </p:spPr>
      </p:sp>
      <p:sp>
        <p:nvSpPr>
          <p:cNvPr id="39" name="Mock chip"/>
          <p:cNvSpPr/>
          <p:nvPr/>
        </p:nvSpPr>
        <p:spPr>
          <a:xfrm>
            <a:off x="7534656" y="1728216"/>
            <a:ext cx="457200" cy="91440"/>
          </a:xfrm>
          <a:prstGeom prst="roundRect">
            <a:avLst>
              <a:gd name="adj" fmla="val 50000"/>
            </a:avLst>
          </a:prstGeom>
          <a:solidFill>
            <a:schemeClr val="accent4"/>
          </a:solidFill>
          <a:ln/>
        </p:spPr>
      </p:sp>
      <p:sp>
        <p:nvSpPr>
          <p:cNvPr id="40" name="Mock line a"/>
          <p:cNvSpPr/>
          <p:nvPr/>
        </p:nvSpPr>
        <p:spPr>
          <a:xfrm>
            <a:off x="7534656" y="1892808"/>
            <a:ext cx="694944" cy="64008"/>
          </a:xfrm>
          <a:prstGeom prst="roundRect">
            <a:avLst>
              <a:gd name="adj" fmla="val 50000"/>
            </a:avLst>
          </a:prstGeom>
          <a:solidFill>
            <a:schemeClr val="accent6"/>
          </a:solidFill>
          <a:ln/>
        </p:spPr>
      </p:sp>
      <p:sp>
        <p:nvSpPr>
          <p:cNvPr id="41" name="Mock line b"/>
          <p:cNvSpPr/>
          <p:nvPr/>
        </p:nvSpPr>
        <p:spPr>
          <a:xfrm>
            <a:off x="7534656" y="2020824"/>
            <a:ext cx="416966" cy="64008"/>
          </a:xfrm>
          <a:prstGeom prst="roundRect">
            <a:avLst>
              <a:gd name="adj" fmla="val 50000"/>
            </a:avLst>
          </a:prstGeom>
          <a:solidFill>
            <a:schemeClr val="accent6"/>
          </a:solidFill>
          <a:ln/>
        </p:spPr>
      </p:sp>
      <p:sp>
        <p:nvSpPr>
          <p:cNvPr id="42" name="Mock task Done 2"/>
          <p:cNvSpPr/>
          <p:nvPr/>
        </p:nvSpPr>
        <p:spPr>
          <a:xfrm>
            <a:off x="7452360" y="2313432"/>
            <a:ext cx="859536" cy="621792"/>
          </a:xfrm>
          <a:prstGeom prst="roundRect">
            <a:avLst>
              <a:gd name="adj" fmla="val 8824"/>
            </a:avLst>
          </a:prstGeom>
          <a:solidFill>
            <a:schemeClr val="bg1"/>
          </a:solidFill>
          <a:ln w="9525">
            <a:solidFill>
              <a:schemeClr val="accent2"/>
            </a:solidFill>
            <a:prstDash val="solid"/>
          </a:ln>
        </p:spPr>
      </p:sp>
      <p:sp>
        <p:nvSpPr>
          <p:cNvPr id="43" name="Mock chip"/>
          <p:cNvSpPr/>
          <p:nvPr/>
        </p:nvSpPr>
        <p:spPr>
          <a:xfrm>
            <a:off x="7534656" y="2441448"/>
            <a:ext cx="457200" cy="91440"/>
          </a:xfrm>
          <a:prstGeom prst="roundRect">
            <a:avLst>
              <a:gd name="adj" fmla="val 50000"/>
            </a:avLst>
          </a:prstGeom>
          <a:solidFill>
            <a:schemeClr val="accent4"/>
          </a:solidFill>
          <a:ln/>
        </p:spPr>
      </p:sp>
      <p:sp>
        <p:nvSpPr>
          <p:cNvPr id="44" name="Mock line a"/>
          <p:cNvSpPr/>
          <p:nvPr/>
        </p:nvSpPr>
        <p:spPr>
          <a:xfrm>
            <a:off x="7534656" y="2606040"/>
            <a:ext cx="694944" cy="64008"/>
          </a:xfrm>
          <a:prstGeom prst="roundRect">
            <a:avLst>
              <a:gd name="adj" fmla="val 50000"/>
            </a:avLst>
          </a:prstGeom>
          <a:solidFill>
            <a:schemeClr val="accent6"/>
          </a:solidFill>
          <a:ln/>
        </p:spPr>
      </p:sp>
      <p:sp>
        <p:nvSpPr>
          <p:cNvPr id="45" name="Mock line b"/>
          <p:cNvSpPr/>
          <p:nvPr/>
        </p:nvSpPr>
        <p:spPr>
          <a:xfrm>
            <a:off x="7534656" y="2734056"/>
            <a:ext cx="416966" cy="64008"/>
          </a:xfrm>
          <a:prstGeom prst="roundRect">
            <a:avLst>
              <a:gd name="adj" fmla="val 50000"/>
            </a:avLst>
          </a:prstGeom>
          <a:solidFill>
            <a:schemeClr val="accent6"/>
          </a:solidFill>
          <a:ln/>
        </p:spPr>
      </p:sp>
      <p:sp>
        <p:nvSpPr>
          <p:cNvPr id="46" name="Mock progress track"/>
          <p:cNvSpPr/>
          <p:nvPr/>
        </p:nvSpPr>
        <p:spPr>
          <a:xfrm>
            <a:off x="5184648" y="3931920"/>
            <a:ext cx="3209544" cy="128016"/>
          </a:xfrm>
          <a:prstGeom prst="roundRect">
            <a:avLst>
              <a:gd name="adj" fmla="val 50000"/>
            </a:avLst>
          </a:prstGeom>
          <a:solidFill>
            <a:schemeClr val="accent6"/>
          </a:solidFill>
          <a:ln/>
        </p:spPr>
      </p:sp>
      <p:sp>
        <p:nvSpPr>
          <p:cNvPr id="47" name="Mock progress fill"/>
          <p:cNvSpPr/>
          <p:nvPr/>
        </p:nvSpPr>
        <p:spPr>
          <a:xfrm>
            <a:off x="5184648" y="3931920"/>
            <a:ext cx="1765249" cy="128016"/>
          </a:xfrm>
          <a:prstGeom prst="roundRect">
            <a:avLst>
              <a:gd name="adj" fmla="val 50000"/>
            </a:avLst>
          </a:prstGeom>
          <a:solidFill>
            <a:schemeClr val="accent1"/>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200" b="1" dirty="0">
                <a:solidFill>
                  <a:schemeClr val="tx2"/>
                </a:solidFill>
              </a:rPr>
              <a:t>Problem Statement</a:t>
            </a:r>
            <a:endParaRPr lang="en-US" sz="3200" dirty="0"/>
          </a:p>
        </p:txBody>
      </p:sp>
      <p:sp>
        <p:nvSpPr>
          <p:cNvPr id="3" name="Problem card 1"/>
          <p:cNvSpPr/>
          <p:nvPr/>
        </p:nvSpPr>
        <p:spPr>
          <a:xfrm>
            <a:off x="548640" y="1280160"/>
            <a:ext cx="5394960" cy="713232"/>
          </a:xfrm>
          <a:prstGeom prst="roundRect">
            <a:avLst>
              <a:gd name="adj" fmla="val 15385"/>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4" name="Tool Fragmentation circle"/>
          <p:cNvSpPr/>
          <p:nvPr/>
        </p:nvSpPr>
        <p:spPr>
          <a:xfrm>
            <a:off x="713232" y="1408176"/>
            <a:ext cx="457200" cy="457200"/>
          </a:xfrm>
          <a:prstGeom prst="ellipse">
            <a:avLst/>
          </a:prstGeom>
          <a:solidFill>
            <a:schemeClr val="accent1"/>
          </a:solidFill>
          <a:ln/>
        </p:spPr>
      </p:sp>
      <p:pic>
        <p:nvPicPr>
          <p:cNvPr id="5" name="Tool Fragmentation icon" descr="Tool Fragmentation"/>
          <p:cNvPicPr>
            <a:picLocks noChangeAspect="1"/>
          </p:cNvPicPr>
          <p:nvPr/>
        </p:nvPicPr>
        <p:blipFill>
          <a:blip r:embed="rId3"/>
          <a:stretch>
            <a:fillRect/>
          </a:stretch>
        </p:blipFill>
        <p:spPr>
          <a:xfrm>
            <a:off x="841248" y="1536192"/>
            <a:ext cx="201168" cy="201168"/>
          </a:xfrm>
          <a:prstGeom prst="rect">
            <a:avLst/>
          </a:prstGeom>
        </p:spPr>
      </p:pic>
      <p:sp>
        <p:nvSpPr>
          <p:cNvPr id="6" name="Problem text 1"/>
          <p:cNvSpPr txBox="1"/>
          <p:nvPr/>
        </p:nvSpPr>
        <p:spPr>
          <a:xfrm>
            <a:off x="1371600" y="1325880"/>
            <a:ext cx="4480560" cy="621792"/>
          </a:xfrm>
          <a:prstGeom prst="rect">
            <a:avLst/>
          </a:prstGeom>
          <a:noFill/>
          <a:ln/>
        </p:spPr>
        <p:txBody>
          <a:bodyPr wrap="square" lIns="0" tIns="0" rIns="0" bIns="0" rtlCol="0" anchor="ctr"/>
          <a:lstStyle/>
          <a:p>
            <a:pPr marL="0" indent="0" algn="l">
              <a:spcAft>
                <a:spcPts val="100"/>
              </a:spcAft>
              <a:buNone/>
            </a:pPr>
            <a:r>
              <a:rPr lang="en-US" sz="1600" b="1" dirty="0">
                <a:solidFill>
                  <a:schemeClr val="tx2"/>
                </a:solidFill>
              </a:rPr>
              <a:t>Tool Fragmentation</a:t>
            </a:r>
            <a:endParaRPr lang="en-US" sz="1600" dirty="0"/>
          </a:p>
          <a:p>
            <a:pPr marL="0" indent="0" algn="l">
              <a:buNone/>
            </a:pPr>
            <a:r>
              <a:rPr lang="en-US" sz="1400" dirty="0">
                <a:solidFill>
                  <a:schemeClr val="tx1"/>
                </a:solidFill>
              </a:rPr>
              <a:t>Separate tools for </a:t>
            </a:r>
            <a:r>
              <a:rPr lang="en-US" sz="1400" b="1" dirty="0">
                <a:solidFill>
                  <a:schemeClr val="accent1"/>
                </a:solidFill>
              </a:rPr>
              <a:t>tasks</a:t>
            </a:r>
            <a:r>
              <a:rPr lang="en-US" sz="1400" dirty="0">
                <a:solidFill>
                  <a:schemeClr val="tx1"/>
                </a:solidFill>
              </a:rPr>
              <a:t>, </a:t>
            </a:r>
            <a:r>
              <a:rPr lang="en-US" sz="1400" b="1" dirty="0">
                <a:solidFill>
                  <a:schemeClr val="accent1"/>
                </a:solidFill>
              </a:rPr>
              <a:t>communication</a:t>
            </a:r>
            <a:r>
              <a:rPr lang="en-US" sz="1400" dirty="0">
                <a:solidFill>
                  <a:schemeClr val="tx1"/>
                </a:solidFill>
              </a:rPr>
              <a:t>, and </a:t>
            </a:r>
            <a:r>
              <a:rPr lang="en-US" sz="1400" b="1" dirty="0">
                <a:solidFill>
                  <a:schemeClr val="accent1"/>
                </a:solidFill>
              </a:rPr>
              <a:t>development</a:t>
            </a:r>
            <a:r>
              <a:rPr lang="en-US" sz="1400" dirty="0">
                <a:solidFill>
                  <a:schemeClr val="tx1"/>
                </a:solidFill>
              </a:rPr>
              <a:t>.</a:t>
            </a:r>
            <a:endParaRPr lang="en-US" sz="1600" dirty="0"/>
          </a:p>
        </p:txBody>
      </p:sp>
      <p:sp>
        <p:nvSpPr>
          <p:cNvPr id="7" name="Problem card 2"/>
          <p:cNvSpPr/>
          <p:nvPr/>
        </p:nvSpPr>
        <p:spPr>
          <a:xfrm>
            <a:off x="548640" y="2103120"/>
            <a:ext cx="5394960" cy="713232"/>
          </a:xfrm>
          <a:prstGeom prst="roundRect">
            <a:avLst>
              <a:gd name="adj" fmla="val 15385"/>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8" name="Poor Sprint Visibility circle"/>
          <p:cNvSpPr/>
          <p:nvPr/>
        </p:nvSpPr>
        <p:spPr>
          <a:xfrm>
            <a:off x="713232" y="2231136"/>
            <a:ext cx="457200" cy="457200"/>
          </a:xfrm>
          <a:prstGeom prst="ellipse">
            <a:avLst/>
          </a:prstGeom>
          <a:solidFill>
            <a:schemeClr val="accent1"/>
          </a:solidFill>
          <a:ln/>
        </p:spPr>
      </p:sp>
      <p:pic>
        <p:nvPicPr>
          <p:cNvPr id="9" name="Poor Sprint Visibility icon" descr="Poor Sprint Visibility"/>
          <p:cNvPicPr>
            <a:picLocks noChangeAspect="1"/>
          </p:cNvPicPr>
          <p:nvPr/>
        </p:nvPicPr>
        <p:blipFill>
          <a:blip r:embed="rId4"/>
          <a:stretch>
            <a:fillRect/>
          </a:stretch>
        </p:blipFill>
        <p:spPr>
          <a:xfrm>
            <a:off x="841248" y="2359152"/>
            <a:ext cx="201168" cy="201168"/>
          </a:xfrm>
          <a:prstGeom prst="rect">
            <a:avLst/>
          </a:prstGeom>
        </p:spPr>
      </p:pic>
      <p:sp>
        <p:nvSpPr>
          <p:cNvPr id="10" name="Problem text 2"/>
          <p:cNvSpPr txBox="1"/>
          <p:nvPr/>
        </p:nvSpPr>
        <p:spPr>
          <a:xfrm>
            <a:off x="1371600" y="2148840"/>
            <a:ext cx="4480560" cy="621792"/>
          </a:xfrm>
          <a:prstGeom prst="rect">
            <a:avLst/>
          </a:prstGeom>
          <a:noFill/>
          <a:ln/>
        </p:spPr>
        <p:txBody>
          <a:bodyPr wrap="square" lIns="0" tIns="0" rIns="0" bIns="0" rtlCol="0" anchor="ctr"/>
          <a:lstStyle/>
          <a:p>
            <a:pPr marL="0" indent="0" algn="l">
              <a:spcAft>
                <a:spcPts val="100"/>
              </a:spcAft>
              <a:buNone/>
            </a:pPr>
            <a:r>
              <a:rPr lang="en-US" sz="1600" b="1" dirty="0">
                <a:solidFill>
                  <a:schemeClr val="tx2"/>
                </a:solidFill>
              </a:rPr>
              <a:t>Poor Sprint Visibility</a:t>
            </a:r>
            <a:endParaRPr lang="en-US" sz="1600" dirty="0"/>
          </a:p>
          <a:p>
            <a:pPr marL="0" indent="0" algn="l">
              <a:buNone/>
            </a:pPr>
            <a:r>
              <a:rPr lang="en-US" sz="1400" dirty="0">
                <a:solidFill>
                  <a:schemeClr val="tx1"/>
                </a:solidFill>
              </a:rPr>
              <a:t>Hard to track </a:t>
            </a:r>
            <a:r>
              <a:rPr lang="en-US" sz="1400" b="1" dirty="0">
                <a:solidFill>
                  <a:schemeClr val="accent1"/>
                </a:solidFill>
              </a:rPr>
              <a:t>sprint progress</a:t>
            </a:r>
            <a:r>
              <a:rPr lang="en-US" sz="1400" dirty="0">
                <a:solidFill>
                  <a:schemeClr val="tx1"/>
                </a:solidFill>
              </a:rPr>
              <a:t> and unfinished tasks.</a:t>
            </a:r>
            <a:endParaRPr lang="en-US" sz="1600" dirty="0"/>
          </a:p>
        </p:txBody>
      </p:sp>
      <p:sp>
        <p:nvSpPr>
          <p:cNvPr id="11" name="Problem card 3"/>
          <p:cNvSpPr/>
          <p:nvPr/>
        </p:nvSpPr>
        <p:spPr>
          <a:xfrm>
            <a:off x="548640" y="2926080"/>
            <a:ext cx="5394960" cy="713232"/>
          </a:xfrm>
          <a:prstGeom prst="roundRect">
            <a:avLst>
              <a:gd name="adj" fmla="val 15385"/>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12" name="Limited Traceability circle"/>
          <p:cNvSpPr/>
          <p:nvPr/>
        </p:nvSpPr>
        <p:spPr>
          <a:xfrm>
            <a:off x="713232" y="3054096"/>
            <a:ext cx="457200" cy="457200"/>
          </a:xfrm>
          <a:prstGeom prst="ellipse">
            <a:avLst/>
          </a:prstGeom>
          <a:solidFill>
            <a:schemeClr val="accent1"/>
          </a:solidFill>
          <a:ln/>
        </p:spPr>
      </p:sp>
      <p:pic>
        <p:nvPicPr>
          <p:cNvPr id="13" name="Limited Traceability icon" descr="Limited Traceability"/>
          <p:cNvPicPr>
            <a:picLocks noChangeAspect="1"/>
          </p:cNvPicPr>
          <p:nvPr/>
        </p:nvPicPr>
        <p:blipFill>
          <a:blip r:embed="rId5"/>
          <a:stretch>
            <a:fillRect/>
          </a:stretch>
        </p:blipFill>
        <p:spPr>
          <a:xfrm>
            <a:off x="841248" y="3182112"/>
            <a:ext cx="201168" cy="201168"/>
          </a:xfrm>
          <a:prstGeom prst="rect">
            <a:avLst/>
          </a:prstGeom>
        </p:spPr>
      </p:pic>
      <p:sp>
        <p:nvSpPr>
          <p:cNvPr id="14" name="Problem text 3"/>
          <p:cNvSpPr txBox="1"/>
          <p:nvPr/>
        </p:nvSpPr>
        <p:spPr>
          <a:xfrm>
            <a:off x="1371600" y="2971800"/>
            <a:ext cx="4480560" cy="621792"/>
          </a:xfrm>
          <a:prstGeom prst="rect">
            <a:avLst/>
          </a:prstGeom>
          <a:noFill/>
          <a:ln/>
        </p:spPr>
        <p:txBody>
          <a:bodyPr wrap="square" lIns="0" tIns="0" rIns="0" bIns="0" rtlCol="0" anchor="ctr"/>
          <a:lstStyle/>
          <a:p>
            <a:pPr marL="0" indent="0" algn="l">
              <a:spcAft>
                <a:spcPts val="100"/>
              </a:spcAft>
              <a:buNone/>
            </a:pPr>
            <a:r>
              <a:rPr lang="en-US" sz="1600" b="1" dirty="0">
                <a:solidFill>
                  <a:schemeClr val="tx2"/>
                </a:solidFill>
              </a:rPr>
              <a:t>Limited Traceability</a:t>
            </a:r>
            <a:endParaRPr lang="en-US" sz="1600" dirty="0"/>
          </a:p>
          <a:p>
            <a:pPr marL="0" indent="0" algn="l">
              <a:buNone/>
            </a:pPr>
            <a:r>
              <a:rPr lang="en-US" sz="1400" dirty="0">
                <a:solidFill>
                  <a:schemeClr val="tx1"/>
                </a:solidFill>
              </a:rPr>
              <a:t>Hard to connect </a:t>
            </a:r>
            <a:r>
              <a:rPr lang="en-US" sz="1400" b="1" dirty="0">
                <a:solidFill>
                  <a:schemeClr val="accent1"/>
                </a:solidFill>
              </a:rPr>
              <a:t>commits</a:t>
            </a:r>
            <a:r>
              <a:rPr lang="en-US" sz="1400" dirty="0">
                <a:solidFill>
                  <a:schemeClr val="tx1"/>
                </a:solidFill>
              </a:rPr>
              <a:t>, </a:t>
            </a:r>
            <a:r>
              <a:rPr lang="en-US" sz="1400" b="1" dirty="0">
                <a:solidFill>
                  <a:schemeClr val="accent1"/>
                </a:solidFill>
              </a:rPr>
              <a:t>testing</a:t>
            </a:r>
            <a:r>
              <a:rPr lang="en-US" sz="1400" dirty="0">
                <a:solidFill>
                  <a:schemeClr val="tx1"/>
                </a:solidFill>
              </a:rPr>
              <a:t>, and </a:t>
            </a:r>
            <a:r>
              <a:rPr lang="en-US" sz="1400" b="1" dirty="0">
                <a:solidFill>
                  <a:schemeClr val="accent1"/>
                </a:solidFill>
              </a:rPr>
              <a:t>releases</a:t>
            </a:r>
            <a:r>
              <a:rPr lang="en-US" sz="1400" dirty="0">
                <a:solidFill>
                  <a:schemeClr val="tx1"/>
                </a:solidFill>
              </a:rPr>
              <a:t>.</a:t>
            </a:r>
            <a:endParaRPr lang="en-US" sz="1600" dirty="0"/>
          </a:p>
        </p:txBody>
      </p:sp>
      <p:sp>
        <p:nvSpPr>
          <p:cNvPr id="15" name="Problem card 4"/>
          <p:cNvSpPr/>
          <p:nvPr/>
        </p:nvSpPr>
        <p:spPr>
          <a:xfrm>
            <a:off x="548640" y="3749040"/>
            <a:ext cx="5394960" cy="713232"/>
          </a:xfrm>
          <a:prstGeom prst="roundRect">
            <a:avLst>
              <a:gd name="adj" fmla="val 15385"/>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16" name="Complex Workflows circle"/>
          <p:cNvSpPr/>
          <p:nvPr/>
        </p:nvSpPr>
        <p:spPr>
          <a:xfrm>
            <a:off x="713232" y="3877056"/>
            <a:ext cx="457200" cy="457200"/>
          </a:xfrm>
          <a:prstGeom prst="ellipse">
            <a:avLst/>
          </a:prstGeom>
          <a:solidFill>
            <a:schemeClr val="accent1"/>
          </a:solidFill>
          <a:ln/>
        </p:spPr>
      </p:sp>
      <p:pic>
        <p:nvPicPr>
          <p:cNvPr id="17" name="Complex Workflows icon" descr="Complex Workflows"/>
          <p:cNvPicPr>
            <a:picLocks noChangeAspect="1"/>
          </p:cNvPicPr>
          <p:nvPr/>
        </p:nvPicPr>
        <p:blipFill>
          <a:blip r:embed="rId6"/>
          <a:stretch>
            <a:fillRect/>
          </a:stretch>
        </p:blipFill>
        <p:spPr>
          <a:xfrm>
            <a:off x="841248" y="4005072"/>
            <a:ext cx="201168" cy="201168"/>
          </a:xfrm>
          <a:prstGeom prst="rect">
            <a:avLst/>
          </a:prstGeom>
        </p:spPr>
      </p:pic>
      <p:sp>
        <p:nvSpPr>
          <p:cNvPr id="18" name="Problem text 4"/>
          <p:cNvSpPr txBox="1"/>
          <p:nvPr/>
        </p:nvSpPr>
        <p:spPr>
          <a:xfrm>
            <a:off x="1371600" y="3794760"/>
            <a:ext cx="4480560" cy="621792"/>
          </a:xfrm>
          <a:prstGeom prst="rect">
            <a:avLst/>
          </a:prstGeom>
          <a:noFill/>
          <a:ln/>
        </p:spPr>
        <p:txBody>
          <a:bodyPr wrap="square" lIns="0" tIns="0" rIns="0" bIns="0" rtlCol="0" anchor="ctr"/>
          <a:lstStyle/>
          <a:p>
            <a:pPr marL="0" indent="0" algn="l">
              <a:spcAft>
                <a:spcPts val="100"/>
              </a:spcAft>
              <a:buNone/>
            </a:pPr>
            <a:r>
              <a:rPr lang="en-US" sz="1600" b="1" dirty="0">
                <a:solidFill>
                  <a:schemeClr val="tx2"/>
                </a:solidFill>
              </a:rPr>
              <a:t>Complex Workflows</a:t>
            </a:r>
            <a:endParaRPr lang="en-US" sz="1600" dirty="0"/>
          </a:p>
          <a:p>
            <a:pPr marL="0" indent="0" algn="l">
              <a:buNone/>
            </a:pPr>
            <a:r>
              <a:rPr lang="en-US" sz="1400" dirty="0">
                <a:solidFill>
                  <a:schemeClr val="tx1"/>
                </a:solidFill>
              </a:rPr>
              <a:t>Some tools overwhelm </a:t>
            </a:r>
            <a:r>
              <a:rPr lang="en-US" sz="1400" b="1" dirty="0">
                <a:solidFill>
                  <a:schemeClr val="accent1"/>
                </a:solidFill>
              </a:rPr>
              <a:t>small teams</a:t>
            </a:r>
            <a:r>
              <a:rPr lang="en-US" sz="1400" dirty="0">
                <a:solidFill>
                  <a:schemeClr val="tx1"/>
                </a:solidFill>
              </a:rPr>
              <a:t>.</a:t>
            </a:r>
            <a:endParaRPr lang="en-US" sz="1600" dirty="0"/>
          </a:p>
        </p:txBody>
      </p:sp>
      <p:sp>
        <p:nvSpPr>
          <p:cNvPr id="19" name="Main problem card"/>
          <p:cNvSpPr/>
          <p:nvPr/>
        </p:nvSpPr>
        <p:spPr>
          <a:xfrm>
            <a:off x="6217920" y="1280160"/>
            <a:ext cx="2377440" cy="3182112"/>
          </a:xfrm>
          <a:prstGeom prst="roundRect">
            <a:avLst>
              <a:gd name="adj" fmla="val 4615"/>
            </a:avLst>
          </a:prstGeom>
          <a:solidFill>
            <a:schemeClr val="tx2"/>
          </a:solidFill>
          <a:ln/>
          <a:effectLst>
            <a:outerShdw blurRad="101600" dist="25400" dir="5400000" algn="bl" rotWithShape="0">
              <a:srgbClr val="123D2D">
                <a:alpha val="10000"/>
              </a:srgbClr>
            </a:outerShdw>
          </a:effectLst>
        </p:spPr>
      </p:sp>
      <p:sp>
        <p:nvSpPr>
          <p:cNvPr id="20" name="Main problem circle"/>
          <p:cNvSpPr/>
          <p:nvPr/>
        </p:nvSpPr>
        <p:spPr>
          <a:xfrm>
            <a:off x="6446520" y="1508760"/>
            <a:ext cx="548640" cy="548640"/>
          </a:xfrm>
          <a:prstGeom prst="ellipse">
            <a:avLst/>
          </a:prstGeom>
          <a:solidFill>
            <a:schemeClr val="accent1"/>
          </a:solidFill>
          <a:ln/>
        </p:spPr>
      </p:sp>
      <p:pic>
        <p:nvPicPr>
          <p:cNvPr id="21" name="Main problem icon" descr="Main problem"/>
          <p:cNvPicPr>
            <a:picLocks noChangeAspect="1"/>
          </p:cNvPicPr>
          <p:nvPr/>
        </p:nvPicPr>
        <p:blipFill>
          <a:blip r:embed="rId7"/>
          <a:stretch>
            <a:fillRect/>
          </a:stretch>
        </p:blipFill>
        <p:spPr>
          <a:xfrm>
            <a:off x="6600139" y="1662379"/>
            <a:ext cx="241402" cy="241402"/>
          </a:xfrm>
          <a:prstGeom prst="rect">
            <a:avLst/>
          </a:prstGeom>
        </p:spPr>
      </p:pic>
      <p:sp>
        <p:nvSpPr>
          <p:cNvPr id="22" name="Main problem label"/>
          <p:cNvSpPr txBox="1"/>
          <p:nvPr/>
        </p:nvSpPr>
        <p:spPr>
          <a:xfrm>
            <a:off x="6446520" y="2240280"/>
            <a:ext cx="1920240" cy="274320"/>
          </a:xfrm>
          <a:prstGeom prst="rect">
            <a:avLst/>
          </a:prstGeom>
          <a:noFill/>
          <a:ln/>
        </p:spPr>
        <p:txBody>
          <a:bodyPr wrap="square" lIns="0" tIns="0" rIns="0" bIns="0" rtlCol="0" anchor="t"/>
          <a:lstStyle/>
          <a:p>
            <a:pPr marL="0" indent="0" algn="l">
              <a:buNone/>
            </a:pPr>
            <a:r>
              <a:rPr lang="en-US" sz="1100" b="1" dirty="0">
                <a:solidFill>
                  <a:schemeClr val="accent2"/>
                </a:solidFill>
              </a:rPr>
              <a:t>MAIN PROBLEM</a:t>
            </a:r>
            <a:endParaRPr lang="en-US" sz="1100" dirty="0"/>
          </a:p>
        </p:txBody>
      </p:sp>
      <p:sp>
        <p:nvSpPr>
          <p:cNvPr id="23" name="Main problem text"/>
          <p:cNvSpPr txBox="1"/>
          <p:nvPr/>
        </p:nvSpPr>
        <p:spPr>
          <a:xfrm>
            <a:off x="6446520" y="2560320"/>
            <a:ext cx="1920240" cy="1737360"/>
          </a:xfrm>
          <a:prstGeom prst="rect">
            <a:avLst/>
          </a:prstGeom>
          <a:noFill/>
          <a:ln/>
        </p:spPr>
        <p:txBody>
          <a:bodyPr wrap="square" lIns="0" tIns="0" rIns="0" bIns="0" rtlCol="0" anchor="t"/>
          <a:lstStyle/>
          <a:p>
            <a:pPr marL="0" indent="0" algn="l">
              <a:buNone/>
            </a:pPr>
            <a:r>
              <a:rPr lang="en-US" sz="2000" b="1" dirty="0">
                <a:solidFill>
                  <a:schemeClr val="bg1"/>
                </a:solidFill>
              </a:rPr>
              <a:t>A centralized platform is needed to manage Agile project activities efficiently.</a:t>
            </a:r>
            <a:endParaRPr lang="en-US" sz="2000" dirty="0"/>
          </a:p>
        </p:txBody>
      </p:sp>
      <p:sp>
        <p:nvSpPr>
          <p:cNvPr id="25" name="Slide Number Placeholder 0"/>
          <p:cNvSpPr>
            <a:spLocks noGrp="1"/>
          </p:cNvSpPr>
          <p:nvPr>
            <p:ph type="sldNum" sz="quarter" idx="4294967295"/>
          </p:nvPr>
        </p:nvSpPr>
        <p:spPr>
          <a:xfrm>
            <a:off x="8046720" y="4727448"/>
            <a:ext cx="548640" cy="246888"/>
          </a:xfrm>
          <a:prstGeom prst="rect">
            <a:avLst/>
          </a:prstGeom>
          <a:extLst>
            <a:ext uri="{C572A759-6A51-4108-AA02-DFA0A04FC94B}">
              <ma14:wrappingTextBoxFlag xmlns:ma14="http://schemas.microsoft.com/office/mac/drawingml/2011/main" xmlns="" val="0"/>
            </a:ext>
          </a:extLst>
        </p:spPr>
        <p:txBody>
          <a:bodyPr/>
          <a:lstStyle>
            <a:lvl1pPr>
              <a:defRPr sz="1000">
                <a:solidFill>
                  <a:srgbClr val="123D2D"/>
                </a:solidFill>
                <a:latin typeface="Calibri"/>
                <a:ea typeface="Calibri"/>
                <a:cs typeface="Calibri"/>
              </a:defRPr>
            </a:lvl1pPr>
          </a:lstStyle>
          <a:p>
            <a:pPr algn="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200" b="1" dirty="0">
                <a:solidFill>
                  <a:schemeClr val="tx2"/>
                </a:solidFill>
              </a:rPr>
              <a:t>Objectives</a:t>
            </a:r>
            <a:endParaRPr lang="en-US" sz="3200" dirty="0"/>
          </a:p>
        </p:txBody>
      </p:sp>
      <p:sp>
        <p:nvSpPr>
          <p:cNvPr id="3" name="Objective card 1"/>
          <p:cNvSpPr/>
          <p:nvPr/>
        </p:nvSpPr>
        <p:spPr>
          <a:xfrm>
            <a:off x="548640" y="1280160"/>
            <a:ext cx="2560320" cy="1463040"/>
          </a:xfrm>
          <a:prstGeom prst="roundRect">
            <a:avLst>
              <a:gd name="adj" fmla="val 7500"/>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4" name="Objective number 1"/>
          <p:cNvSpPr txBox="1"/>
          <p:nvPr/>
        </p:nvSpPr>
        <p:spPr>
          <a:xfrm>
            <a:off x="777240" y="1417320"/>
            <a:ext cx="914400" cy="457200"/>
          </a:xfrm>
          <a:prstGeom prst="rect">
            <a:avLst/>
          </a:prstGeom>
          <a:noFill/>
          <a:ln/>
        </p:spPr>
        <p:txBody>
          <a:bodyPr wrap="square" lIns="0" tIns="0" rIns="0" bIns="0" rtlCol="0" anchor="t"/>
          <a:lstStyle/>
          <a:p>
            <a:pPr marL="0" indent="0" algn="l">
              <a:buNone/>
            </a:pPr>
            <a:r>
              <a:rPr lang="en-US" sz="2800" b="1" dirty="0">
                <a:solidFill>
                  <a:schemeClr val="accent1"/>
                </a:solidFill>
              </a:rPr>
              <a:t>01</a:t>
            </a:r>
            <a:endParaRPr lang="en-US" sz="2800" dirty="0"/>
          </a:p>
        </p:txBody>
      </p:sp>
      <p:sp>
        <p:nvSpPr>
          <p:cNvPr id="5" name="Objective text 1"/>
          <p:cNvSpPr txBox="1"/>
          <p:nvPr/>
        </p:nvSpPr>
        <p:spPr>
          <a:xfrm>
            <a:off x="777240" y="1901952"/>
            <a:ext cx="2103120" cy="749808"/>
          </a:xfrm>
          <a:prstGeom prst="rect">
            <a:avLst/>
          </a:prstGeom>
          <a:noFill/>
          <a:ln/>
        </p:spPr>
        <p:txBody>
          <a:bodyPr wrap="square" lIns="0" tIns="0" rIns="0" bIns="0" rtlCol="0" anchor="t"/>
          <a:lstStyle/>
          <a:p>
            <a:pPr marL="0" indent="0" algn="l">
              <a:buNone/>
            </a:pPr>
            <a:r>
              <a:rPr lang="en-US" sz="1600" dirty="0">
                <a:solidFill>
                  <a:schemeClr val="tx1"/>
                </a:solidFill>
              </a:rPr>
              <a:t>Develop a </a:t>
            </a:r>
            <a:r>
              <a:rPr lang="en-US" sz="1600" b="1" dirty="0">
                <a:solidFill>
                  <a:schemeClr val="accent1"/>
                </a:solidFill>
              </a:rPr>
              <a:t>centralized Agile project management</a:t>
            </a:r>
            <a:r>
              <a:rPr lang="en-US" sz="1600" dirty="0">
                <a:solidFill>
                  <a:schemeClr val="tx1"/>
                </a:solidFill>
              </a:rPr>
              <a:t> system.</a:t>
            </a:r>
            <a:endParaRPr lang="en-US" sz="1600" dirty="0"/>
          </a:p>
        </p:txBody>
      </p:sp>
      <p:sp>
        <p:nvSpPr>
          <p:cNvPr id="6" name="Objective card 2"/>
          <p:cNvSpPr/>
          <p:nvPr/>
        </p:nvSpPr>
        <p:spPr>
          <a:xfrm>
            <a:off x="3291840" y="1280160"/>
            <a:ext cx="2560320" cy="1463040"/>
          </a:xfrm>
          <a:prstGeom prst="roundRect">
            <a:avLst>
              <a:gd name="adj" fmla="val 7500"/>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7" name="Objective number 2"/>
          <p:cNvSpPr txBox="1"/>
          <p:nvPr/>
        </p:nvSpPr>
        <p:spPr>
          <a:xfrm>
            <a:off x="3520440" y="1417320"/>
            <a:ext cx="914400" cy="457200"/>
          </a:xfrm>
          <a:prstGeom prst="rect">
            <a:avLst/>
          </a:prstGeom>
          <a:noFill/>
          <a:ln/>
        </p:spPr>
        <p:txBody>
          <a:bodyPr wrap="square" lIns="0" tIns="0" rIns="0" bIns="0" rtlCol="0" anchor="t"/>
          <a:lstStyle/>
          <a:p>
            <a:pPr marL="0" indent="0" algn="l">
              <a:buNone/>
            </a:pPr>
            <a:r>
              <a:rPr lang="en-US" sz="2800" b="1" dirty="0">
                <a:solidFill>
                  <a:schemeClr val="accent1"/>
                </a:solidFill>
              </a:rPr>
              <a:t>02</a:t>
            </a:r>
            <a:endParaRPr lang="en-US" sz="2800" dirty="0"/>
          </a:p>
        </p:txBody>
      </p:sp>
      <p:sp>
        <p:nvSpPr>
          <p:cNvPr id="8" name="Objective text 2"/>
          <p:cNvSpPr txBox="1"/>
          <p:nvPr/>
        </p:nvSpPr>
        <p:spPr>
          <a:xfrm>
            <a:off x="3520440" y="1901952"/>
            <a:ext cx="2103120" cy="749808"/>
          </a:xfrm>
          <a:prstGeom prst="rect">
            <a:avLst/>
          </a:prstGeom>
          <a:noFill/>
          <a:ln/>
        </p:spPr>
        <p:txBody>
          <a:bodyPr wrap="square" lIns="0" tIns="0" rIns="0" bIns="0" rtlCol="0" anchor="t"/>
          <a:lstStyle/>
          <a:p>
            <a:pPr marL="0" indent="0" algn="l">
              <a:buNone/>
            </a:pPr>
            <a:r>
              <a:rPr lang="en-US" sz="1600" dirty="0">
                <a:solidFill>
                  <a:schemeClr val="tx1"/>
                </a:solidFill>
              </a:rPr>
              <a:t>Organize </a:t>
            </a:r>
            <a:r>
              <a:rPr lang="en-US" sz="1600" b="1" dirty="0">
                <a:solidFill>
                  <a:schemeClr val="accent1"/>
                </a:solidFill>
              </a:rPr>
              <a:t>projects, backlogs, tasks, and sprints</a:t>
            </a:r>
            <a:r>
              <a:rPr lang="en-US" sz="1600" dirty="0">
                <a:solidFill>
                  <a:schemeClr val="tx1"/>
                </a:solidFill>
              </a:rPr>
              <a:t>.</a:t>
            </a:r>
            <a:endParaRPr lang="en-US" sz="1600" dirty="0"/>
          </a:p>
        </p:txBody>
      </p:sp>
      <p:sp>
        <p:nvSpPr>
          <p:cNvPr id="9" name="Objective card 3"/>
          <p:cNvSpPr/>
          <p:nvPr/>
        </p:nvSpPr>
        <p:spPr>
          <a:xfrm>
            <a:off x="6035040" y="1280160"/>
            <a:ext cx="2560320" cy="1463040"/>
          </a:xfrm>
          <a:prstGeom prst="roundRect">
            <a:avLst>
              <a:gd name="adj" fmla="val 7500"/>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10" name="Objective number 3"/>
          <p:cNvSpPr txBox="1"/>
          <p:nvPr/>
        </p:nvSpPr>
        <p:spPr>
          <a:xfrm>
            <a:off x="6263640" y="1417320"/>
            <a:ext cx="914400" cy="457200"/>
          </a:xfrm>
          <a:prstGeom prst="rect">
            <a:avLst/>
          </a:prstGeom>
          <a:noFill/>
          <a:ln/>
        </p:spPr>
        <p:txBody>
          <a:bodyPr wrap="square" lIns="0" tIns="0" rIns="0" bIns="0" rtlCol="0" anchor="t"/>
          <a:lstStyle/>
          <a:p>
            <a:pPr marL="0" indent="0" algn="l">
              <a:buNone/>
            </a:pPr>
            <a:r>
              <a:rPr lang="en-US" sz="2800" b="1" dirty="0">
                <a:solidFill>
                  <a:schemeClr val="accent1"/>
                </a:solidFill>
              </a:rPr>
              <a:t>03</a:t>
            </a:r>
            <a:endParaRPr lang="en-US" sz="2800" dirty="0"/>
          </a:p>
        </p:txBody>
      </p:sp>
      <p:sp>
        <p:nvSpPr>
          <p:cNvPr id="11" name="Objective text 3"/>
          <p:cNvSpPr txBox="1"/>
          <p:nvPr/>
        </p:nvSpPr>
        <p:spPr>
          <a:xfrm>
            <a:off x="6263640" y="1901952"/>
            <a:ext cx="2103120" cy="749808"/>
          </a:xfrm>
          <a:prstGeom prst="rect">
            <a:avLst/>
          </a:prstGeom>
          <a:noFill/>
          <a:ln/>
        </p:spPr>
        <p:txBody>
          <a:bodyPr wrap="square" lIns="0" tIns="0" rIns="0" bIns="0" rtlCol="0" anchor="t"/>
          <a:lstStyle/>
          <a:p>
            <a:pPr marL="0" indent="0" algn="l">
              <a:buNone/>
            </a:pPr>
            <a:r>
              <a:rPr lang="en-US" sz="1600" dirty="0">
                <a:solidFill>
                  <a:schemeClr val="tx1"/>
                </a:solidFill>
              </a:rPr>
              <a:t>Track work using a </a:t>
            </a:r>
            <a:r>
              <a:rPr lang="en-US" sz="1600" b="1" dirty="0">
                <a:solidFill>
                  <a:schemeClr val="accent1"/>
                </a:solidFill>
              </a:rPr>
              <a:t>Kanban board</a:t>
            </a:r>
            <a:r>
              <a:rPr lang="en-US" sz="1600" dirty="0">
                <a:solidFill>
                  <a:schemeClr val="tx1"/>
                </a:solidFill>
              </a:rPr>
              <a:t>.</a:t>
            </a:r>
            <a:endParaRPr lang="en-US" sz="1600" dirty="0"/>
          </a:p>
        </p:txBody>
      </p:sp>
      <p:sp>
        <p:nvSpPr>
          <p:cNvPr id="12" name="Objective card 4"/>
          <p:cNvSpPr/>
          <p:nvPr/>
        </p:nvSpPr>
        <p:spPr>
          <a:xfrm>
            <a:off x="548640" y="2926080"/>
            <a:ext cx="3931920" cy="1463040"/>
          </a:xfrm>
          <a:prstGeom prst="roundRect">
            <a:avLst>
              <a:gd name="adj" fmla="val 7500"/>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13" name="Objective number 4"/>
          <p:cNvSpPr txBox="1"/>
          <p:nvPr/>
        </p:nvSpPr>
        <p:spPr>
          <a:xfrm>
            <a:off x="777240" y="3063240"/>
            <a:ext cx="914400" cy="457200"/>
          </a:xfrm>
          <a:prstGeom prst="rect">
            <a:avLst/>
          </a:prstGeom>
          <a:noFill/>
          <a:ln/>
        </p:spPr>
        <p:txBody>
          <a:bodyPr wrap="square" lIns="0" tIns="0" rIns="0" bIns="0" rtlCol="0" anchor="t"/>
          <a:lstStyle/>
          <a:p>
            <a:pPr marL="0" indent="0" algn="l">
              <a:buNone/>
            </a:pPr>
            <a:r>
              <a:rPr lang="en-US" sz="2800" b="1" dirty="0">
                <a:solidFill>
                  <a:schemeClr val="accent1"/>
                </a:solidFill>
              </a:rPr>
              <a:t>04</a:t>
            </a:r>
            <a:endParaRPr lang="en-US" sz="2800" dirty="0"/>
          </a:p>
        </p:txBody>
      </p:sp>
      <p:sp>
        <p:nvSpPr>
          <p:cNvPr id="14" name="Objective text 4"/>
          <p:cNvSpPr txBox="1"/>
          <p:nvPr/>
        </p:nvSpPr>
        <p:spPr>
          <a:xfrm>
            <a:off x="777240" y="3547872"/>
            <a:ext cx="3474720" cy="749808"/>
          </a:xfrm>
          <a:prstGeom prst="rect">
            <a:avLst/>
          </a:prstGeom>
          <a:noFill/>
          <a:ln/>
        </p:spPr>
        <p:txBody>
          <a:bodyPr wrap="square" lIns="0" tIns="0" rIns="0" bIns="0" rtlCol="0" anchor="t"/>
          <a:lstStyle/>
          <a:p>
            <a:pPr marL="0" indent="0" algn="l">
              <a:buNone/>
            </a:pPr>
            <a:r>
              <a:rPr lang="en-US" sz="1600" dirty="0">
                <a:solidFill>
                  <a:schemeClr val="tx1"/>
                </a:solidFill>
              </a:rPr>
              <a:t>Improve team collaboration through </a:t>
            </a:r>
            <a:r>
              <a:rPr lang="en-US" sz="1600" b="1" dirty="0">
                <a:solidFill>
                  <a:schemeClr val="accent1"/>
                </a:solidFill>
              </a:rPr>
              <a:t>discussions and retrospectives</a:t>
            </a:r>
            <a:r>
              <a:rPr lang="en-US" sz="1600" dirty="0">
                <a:solidFill>
                  <a:schemeClr val="tx1"/>
                </a:solidFill>
              </a:rPr>
              <a:t>.</a:t>
            </a:r>
            <a:endParaRPr lang="en-US" sz="1600" dirty="0"/>
          </a:p>
        </p:txBody>
      </p:sp>
      <p:sp>
        <p:nvSpPr>
          <p:cNvPr id="15" name="Objective card 5"/>
          <p:cNvSpPr/>
          <p:nvPr/>
        </p:nvSpPr>
        <p:spPr>
          <a:xfrm>
            <a:off x="4663440" y="2926080"/>
            <a:ext cx="3931920" cy="1463040"/>
          </a:xfrm>
          <a:prstGeom prst="roundRect">
            <a:avLst>
              <a:gd name="adj" fmla="val 7500"/>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16" name="Objective number 5"/>
          <p:cNvSpPr txBox="1"/>
          <p:nvPr/>
        </p:nvSpPr>
        <p:spPr>
          <a:xfrm>
            <a:off x="4892040" y="3063240"/>
            <a:ext cx="914400" cy="457200"/>
          </a:xfrm>
          <a:prstGeom prst="rect">
            <a:avLst/>
          </a:prstGeom>
          <a:noFill/>
          <a:ln/>
        </p:spPr>
        <p:txBody>
          <a:bodyPr wrap="square" lIns="0" tIns="0" rIns="0" bIns="0" rtlCol="0" anchor="t"/>
          <a:lstStyle/>
          <a:p>
            <a:pPr marL="0" indent="0" algn="l">
              <a:buNone/>
            </a:pPr>
            <a:r>
              <a:rPr lang="en-US" sz="2800" b="1" dirty="0">
                <a:solidFill>
                  <a:schemeClr val="accent1"/>
                </a:solidFill>
              </a:rPr>
              <a:t>05</a:t>
            </a:r>
            <a:endParaRPr lang="en-US" sz="2800" dirty="0"/>
          </a:p>
        </p:txBody>
      </p:sp>
      <p:sp>
        <p:nvSpPr>
          <p:cNvPr id="17" name="Objective text 5"/>
          <p:cNvSpPr txBox="1"/>
          <p:nvPr/>
        </p:nvSpPr>
        <p:spPr>
          <a:xfrm>
            <a:off x="4892040" y="3547872"/>
            <a:ext cx="3474720" cy="749808"/>
          </a:xfrm>
          <a:prstGeom prst="rect">
            <a:avLst/>
          </a:prstGeom>
          <a:noFill/>
          <a:ln/>
        </p:spPr>
        <p:txBody>
          <a:bodyPr wrap="square" lIns="0" tIns="0" rIns="0" bIns="0" rtlCol="0" anchor="t"/>
          <a:lstStyle/>
          <a:p>
            <a:pPr marL="0" indent="0" algn="l">
              <a:buNone/>
            </a:pPr>
            <a:r>
              <a:rPr lang="en-US" sz="1600" dirty="0">
                <a:solidFill>
                  <a:schemeClr val="tx1"/>
                </a:solidFill>
              </a:rPr>
              <a:t>Support </a:t>
            </a:r>
            <a:r>
              <a:rPr lang="en-US" sz="1600" b="1" dirty="0">
                <a:solidFill>
                  <a:schemeClr val="accent1"/>
                </a:solidFill>
              </a:rPr>
              <a:t>quality assurance, release management</a:t>
            </a:r>
            <a:r>
              <a:rPr lang="en-US" sz="1600" dirty="0">
                <a:solidFill>
                  <a:schemeClr val="tx1"/>
                </a:solidFill>
              </a:rPr>
              <a:t>, and progress reporting.</a:t>
            </a:r>
            <a:endParaRPr lang="en-US" sz="1600" dirty="0"/>
          </a:p>
        </p:txBody>
      </p:sp>
      <p:sp>
        <p:nvSpPr>
          <p:cNvPr id="25" name="Slide Number Placeholder 0"/>
          <p:cNvSpPr>
            <a:spLocks noGrp="1"/>
          </p:cNvSpPr>
          <p:nvPr>
            <p:ph type="sldNum" sz="quarter" idx="4294967295"/>
          </p:nvPr>
        </p:nvSpPr>
        <p:spPr>
          <a:xfrm>
            <a:off x="8046720" y="4727448"/>
            <a:ext cx="548640" cy="246888"/>
          </a:xfrm>
          <a:prstGeom prst="rect">
            <a:avLst/>
          </a:prstGeom>
          <a:extLst>
            <a:ext uri="{C572A759-6A51-4108-AA02-DFA0A04FC94B}">
              <ma14:wrappingTextBoxFlag xmlns:ma14="http://schemas.microsoft.com/office/mac/drawingml/2011/main" xmlns="" val="0"/>
            </a:ext>
          </a:extLst>
        </p:spPr>
        <p:txBody>
          <a:bodyPr/>
          <a:lstStyle>
            <a:lvl1pPr>
              <a:defRPr sz="1000">
                <a:solidFill>
                  <a:srgbClr val="123D2D"/>
                </a:solidFill>
                <a:latin typeface="Calibri"/>
                <a:ea typeface="Calibri"/>
                <a:cs typeface="Calibri"/>
              </a:defRPr>
            </a:lvl1pPr>
          </a:lstStyle>
          <a:p>
            <a:pPr algn="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200" b="1" dirty="0">
                <a:solidFill>
                  <a:schemeClr val="tx2"/>
                </a:solidFill>
              </a:rPr>
              <a:t>Proposed Solution</a:t>
            </a:r>
            <a:endParaRPr lang="en-US" sz="3200" dirty="0"/>
          </a:p>
        </p:txBody>
      </p:sp>
      <p:sp>
        <p:nvSpPr>
          <p:cNvPr id="3" name="Solution tagline"/>
          <p:cNvSpPr txBox="1"/>
          <p:nvPr/>
        </p:nvSpPr>
        <p:spPr>
          <a:xfrm>
            <a:off x="548640" y="1069848"/>
            <a:ext cx="8046720" cy="365760"/>
          </a:xfrm>
          <a:prstGeom prst="rect">
            <a:avLst/>
          </a:prstGeom>
          <a:noFill/>
          <a:ln/>
        </p:spPr>
        <p:txBody>
          <a:bodyPr wrap="square" lIns="0" tIns="0" rIns="0" bIns="0" rtlCol="0" anchor="t"/>
          <a:lstStyle/>
          <a:p>
            <a:pPr marL="0" indent="0" algn="l">
              <a:buNone/>
            </a:pPr>
            <a:r>
              <a:rPr lang="en-US" sz="2000" b="1" dirty="0">
                <a:solidFill>
                  <a:schemeClr val="accent1"/>
                </a:solidFill>
              </a:rPr>
              <a:t>Stride — An Integrated Agile Platform</a:t>
            </a:r>
            <a:endParaRPr lang="en-US" sz="2000" dirty="0"/>
          </a:p>
        </p:txBody>
      </p:sp>
      <p:sp>
        <p:nvSpPr>
          <p:cNvPr id="4" name="Solution intro"/>
          <p:cNvSpPr txBox="1"/>
          <p:nvPr/>
        </p:nvSpPr>
        <p:spPr>
          <a:xfrm>
            <a:off x="548640" y="1463040"/>
            <a:ext cx="8046720" cy="320040"/>
          </a:xfrm>
          <a:prstGeom prst="rect">
            <a:avLst/>
          </a:prstGeom>
          <a:noFill/>
          <a:ln/>
        </p:spPr>
        <p:txBody>
          <a:bodyPr wrap="square" lIns="0" tIns="0" rIns="0" bIns="0" rtlCol="0" anchor="t"/>
          <a:lstStyle/>
          <a:p>
            <a:pPr marL="0" indent="0" algn="l">
              <a:buNone/>
            </a:pPr>
            <a:r>
              <a:rPr lang="en-US" sz="1400" dirty="0">
                <a:solidFill>
                  <a:schemeClr val="tx1"/>
                </a:solidFill>
              </a:rPr>
              <a:t>A centralized workspace for managing the </a:t>
            </a:r>
            <a:r>
              <a:rPr lang="en-US" sz="1400" b="1" dirty="0">
                <a:solidFill>
                  <a:schemeClr val="accent1"/>
                </a:solidFill>
              </a:rPr>
              <a:t>software development lifecycle</a:t>
            </a:r>
            <a:r>
              <a:rPr lang="en-US" sz="1400" dirty="0">
                <a:solidFill>
                  <a:schemeClr val="tx1"/>
                </a:solidFill>
              </a:rPr>
              <a:t>.</a:t>
            </a:r>
            <a:endParaRPr lang="en-US" sz="1400" dirty="0"/>
          </a:p>
        </p:txBody>
      </p:sp>
      <p:sp>
        <p:nvSpPr>
          <p:cNvPr id="5" name="Module card 1"/>
          <p:cNvSpPr/>
          <p:nvPr/>
        </p:nvSpPr>
        <p:spPr>
          <a:xfrm>
            <a:off x="548640" y="1965960"/>
            <a:ext cx="2560320" cy="1234440"/>
          </a:xfrm>
          <a:prstGeom prst="roundRect">
            <a:avLst>
              <a:gd name="adj" fmla="val 8889"/>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6" name="Project Management circle"/>
          <p:cNvSpPr/>
          <p:nvPr/>
        </p:nvSpPr>
        <p:spPr>
          <a:xfrm>
            <a:off x="685800" y="2103120"/>
            <a:ext cx="411480" cy="411480"/>
          </a:xfrm>
          <a:prstGeom prst="ellipse">
            <a:avLst/>
          </a:prstGeom>
          <a:solidFill>
            <a:schemeClr val="accent1"/>
          </a:solidFill>
          <a:ln/>
        </p:spPr>
      </p:sp>
      <p:pic>
        <p:nvPicPr>
          <p:cNvPr id="7" name="Project Management icon" descr="Project Management"/>
          <p:cNvPicPr>
            <a:picLocks noChangeAspect="1"/>
          </p:cNvPicPr>
          <p:nvPr/>
        </p:nvPicPr>
        <p:blipFill>
          <a:blip r:embed="rId3"/>
          <a:stretch>
            <a:fillRect/>
          </a:stretch>
        </p:blipFill>
        <p:spPr>
          <a:xfrm>
            <a:off x="801014" y="2218334"/>
            <a:ext cx="181051" cy="181051"/>
          </a:xfrm>
          <a:prstGeom prst="rect">
            <a:avLst/>
          </a:prstGeom>
        </p:spPr>
      </p:pic>
      <p:sp>
        <p:nvSpPr>
          <p:cNvPr id="8" name="Module title 1"/>
          <p:cNvSpPr txBox="1"/>
          <p:nvPr/>
        </p:nvSpPr>
        <p:spPr>
          <a:xfrm>
            <a:off x="1207008" y="2103120"/>
            <a:ext cx="1828800" cy="411480"/>
          </a:xfrm>
          <a:prstGeom prst="rect">
            <a:avLst/>
          </a:prstGeom>
          <a:noFill/>
          <a:ln/>
        </p:spPr>
        <p:txBody>
          <a:bodyPr wrap="square" lIns="0" tIns="0" rIns="0" bIns="0" rtlCol="0" anchor="ctr"/>
          <a:lstStyle/>
          <a:p>
            <a:pPr marL="0" indent="0" algn="l">
              <a:buNone/>
            </a:pPr>
            <a:r>
              <a:rPr lang="en-US" sz="1400" b="1" dirty="0">
                <a:solidFill>
                  <a:schemeClr val="tx2"/>
                </a:solidFill>
              </a:rPr>
              <a:t>Project Management</a:t>
            </a:r>
            <a:endParaRPr lang="en-US" sz="1400" dirty="0"/>
          </a:p>
        </p:txBody>
      </p:sp>
      <p:sp>
        <p:nvSpPr>
          <p:cNvPr id="9" name="Module text 1"/>
          <p:cNvSpPr txBox="1"/>
          <p:nvPr/>
        </p:nvSpPr>
        <p:spPr>
          <a:xfrm>
            <a:off x="685800" y="2624328"/>
            <a:ext cx="2286000" cy="502920"/>
          </a:xfrm>
          <a:prstGeom prst="rect">
            <a:avLst/>
          </a:prstGeom>
          <a:noFill/>
          <a:ln/>
        </p:spPr>
        <p:txBody>
          <a:bodyPr wrap="square" lIns="0" tIns="0" rIns="0" bIns="0" rtlCol="0" anchor="t"/>
          <a:lstStyle/>
          <a:p>
            <a:pPr marL="0" indent="0" algn="l">
              <a:buNone/>
            </a:pPr>
            <a:r>
              <a:rPr lang="en-US" sz="1400" dirty="0">
                <a:solidFill>
                  <a:schemeClr val="tx1"/>
                </a:solidFill>
              </a:rPr>
              <a:t>Create and organize projects.</a:t>
            </a:r>
            <a:endParaRPr lang="en-US" sz="1400" dirty="0"/>
          </a:p>
        </p:txBody>
      </p:sp>
      <p:sp>
        <p:nvSpPr>
          <p:cNvPr id="10" name="Module card 2"/>
          <p:cNvSpPr/>
          <p:nvPr/>
        </p:nvSpPr>
        <p:spPr>
          <a:xfrm>
            <a:off x="3291840" y="1965960"/>
            <a:ext cx="2560320" cy="1234440"/>
          </a:xfrm>
          <a:prstGeom prst="roundRect">
            <a:avLst>
              <a:gd name="adj" fmla="val 8889"/>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11" name="Backlog Management circle"/>
          <p:cNvSpPr/>
          <p:nvPr/>
        </p:nvSpPr>
        <p:spPr>
          <a:xfrm>
            <a:off x="3429000" y="2103120"/>
            <a:ext cx="411480" cy="411480"/>
          </a:xfrm>
          <a:prstGeom prst="ellipse">
            <a:avLst/>
          </a:prstGeom>
          <a:solidFill>
            <a:schemeClr val="accent1"/>
          </a:solidFill>
          <a:ln/>
        </p:spPr>
      </p:sp>
      <p:pic>
        <p:nvPicPr>
          <p:cNvPr id="12" name="Backlog Management icon" descr="Backlog Management"/>
          <p:cNvPicPr>
            <a:picLocks noChangeAspect="1"/>
          </p:cNvPicPr>
          <p:nvPr/>
        </p:nvPicPr>
        <p:blipFill>
          <a:blip r:embed="rId4"/>
          <a:stretch>
            <a:fillRect/>
          </a:stretch>
        </p:blipFill>
        <p:spPr>
          <a:xfrm>
            <a:off x="3544214" y="2218334"/>
            <a:ext cx="181051" cy="181051"/>
          </a:xfrm>
          <a:prstGeom prst="rect">
            <a:avLst/>
          </a:prstGeom>
        </p:spPr>
      </p:pic>
      <p:sp>
        <p:nvSpPr>
          <p:cNvPr id="13" name="Module title 2"/>
          <p:cNvSpPr txBox="1"/>
          <p:nvPr/>
        </p:nvSpPr>
        <p:spPr>
          <a:xfrm>
            <a:off x="3950208" y="2103120"/>
            <a:ext cx="1828800" cy="411480"/>
          </a:xfrm>
          <a:prstGeom prst="rect">
            <a:avLst/>
          </a:prstGeom>
          <a:noFill/>
          <a:ln/>
        </p:spPr>
        <p:txBody>
          <a:bodyPr wrap="square" lIns="0" tIns="0" rIns="0" bIns="0" rtlCol="0" anchor="ctr"/>
          <a:lstStyle/>
          <a:p>
            <a:pPr marL="0" indent="0" algn="l">
              <a:buNone/>
            </a:pPr>
            <a:r>
              <a:rPr lang="en-US" sz="1400" b="1" dirty="0">
                <a:solidFill>
                  <a:schemeClr val="tx2"/>
                </a:solidFill>
              </a:rPr>
              <a:t>Backlog Management</a:t>
            </a:r>
            <a:endParaRPr lang="en-US" sz="1400" dirty="0"/>
          </a:p>
        </p:txBody>
      </p:sp>
      <p:sp>
        <p:nvSpPr>
          <p:cNvPr id="14" name="Module text 2"/>
          <p:cNvSpPr txBox="1"/>
          <p:nvPr/>
        </p:nvSpPr>
        <p:spPr>
          <a:xfrm>
            <a:off x="3429000" y="2624328"/>
            <a:ext cx="2286000" cy="502920"/>
          </a:xfrm>
          <a:prstGeom prst="rect">
            <a:avLst/>
          </a:prstGeom>
          <a:noFill/>
          <a:ln/>
        </p:spPr>
        <p:txBody>
          <a:bodyPr wrap="square" lIns="0" tIns="0" rIns="0" bIns="0" rtlCol="0" anchor="t"/>
          <a:lstStyle/>
          <a:p>
            <a:pPr marL="0" indent="0" algn="l">
              <a:buNone/>
            </a:pPr>
            <a:r>
              <a:rPr lang="en-US" sz="1400" dirty="0">
                <a:solidFill>
                  <a:schemeClr val="tx1"/>
                </a:solidFill>
              </a:rPr>
              <a:t>Store and prioritize work items.</a:t>
            </a:r>
            <a:endParaRPr lang="en-US" sz="1400" dirty="0"/>
          </a:p>
        </p:txBody>
      </p:sp>
      <p:sp>
        <p:nvSpPr>
          <p:cNvPr id="15" name="Module card 3"/>
          <p:cNvSpPr/>
          <p:nvPr/>
        </p:nvSpPr>
        <p:spPr>
          <a:xfrm>
            <a:off x="6035040" y="1965960"/>
            <a:ext cx="2560320" cy="1234440"/>
          </a:xfrm>
          <a:prstGeom prst="roundRect">
            <a:avLst>
              <a:gd name="adj" fmla="val 8889"/>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16" name="Sprint Planning circle"/>
          <p:cNvSpPr/>
          <p:nvPr/>
        </p:nvSpPr>
        <p:spPr>
          <a:xfrm>
            <a:off x="6172200" y="2103120"/>
            <a:ext cx="411480" cy="411480"/>
          </a:xfrm>
          <a:prstGeom prst="ellipse">
            <a:avLst/>
          </a:prstGeom>
          <a:solidFill>
            <a:schemeClr val="accent1"/>
          </a:solidFill>
          <a:ln/>
        </p:spPr>
      </p:sp>
      <p:pic>
        <p:nvPicPr>
          <p:cNvPr id="17" name="Sprint Planning icon" descr="Sprint Planning"/>
          <p:cNvPicPr>
            <a:picLocks noChangeAspect="1"/>
          </p:cNvPicPr>
          <p:nvPr/>
        </p:nvPicPr>
        <p:blipFill>
          <a:blip r:embed="rId5"/>
          <a:stretch>
            <a:fillRect/>
          </a:stretch>
        </p:blipFill>
        <p:spPr>
          <a:xfrm>
            <a:off x="6287414" y="2218334"/>
            <a:ext cx="181051" cy="181051"/>
          </a:xfrm>
          <a:prstGeom prst="rect">
            <a:avLst/>
          </a:prstGeom>
        </p:spPr>
      </p:pic>
      <p:sp>
        <p:nvSpPr>
          <p:cNvPr id="18" name="Module title 3"/>
          <p:cNvSpPr txBox="1"/>
          <p:nvPr/>
        </p:nvSpPr>
        <p:spPr>
          <a:xfrm>
            <a:off x="6693408" y="2103120"/>
            <a:ext cx="1828800" cy="411480"/>
          </a:xfrm>
          <a:prstGeom prst="rect">
            <a:avLst/>
          </a:prstGeom>
          <a:noFill/>
          <a:ln/>
        </p:spPr>
        <p:txBody>
          <a:bodyPr wrap="square" lIns="0" tIns="0" rIns="0" bIns="0" rtlCol="0" anchor="ctr"/>
          <a:lstStyle/>
          <a:p>
            <a:pPr marL="0" indent="0" algn="l">
              <a:buNone/>
            </a:pPr>
            <a:r>
              <a:rPr lang="en-US" sz="1400" b="1" dirty="0">
                <a:solidFill>
                  <a:schemeClr val="tx2"/>
                </a:solidFill>
              </a:rPr>
              <a:t>Sprint Planning</a:t>
            </a:r>
            <a:endParaRPr lang="en-US" sz="1400" dirty="0"/>
          </a:p>
        </p:txBody>
      </p:sp>
      <p:sp>
        <p:nvSpPr>
          <p:cNvPr id="19" name="Module text 3"/>
          <p:cNvSpPr txBox="1"/>
          <p:nvPr/>
        </p:nvSpPr>
        <p:spPr>
          <a:xfrm>
            <a:off x="6172200" y="2624328"/>
            <a:ext cx="2286000" cy="502920"/>
          </a:xfrm>
          <a:prstGeom prst="rect">
            <a:avLst/>
          </a:prstGeom>
          <a:noFill/>
          <a:ln/>
        </p:spPr>
        <p:txBody>
          <a:bodyPr wrap="square" lIns="0" tIns="0" rIns="0" bIns="0" rtlCol="0" anchor="t"/>
          <a:lstStyle/>
          <a:p>
            <a:pPr marL="0" indent="0" algn="l">
              <a:buNone/>
            </a:pPr>
            <a:r>
              <a:rPr lang="en-US" sz="1400" dirty="0">
                <a:solidFill>
                  <a:schemeClr val="tx1"/>
                </a:solidFill>
              </a:rPr>
              <a:t>Select tasks for a specific development cycle.</a:t>
            </a:r>
            <a:endParaRPr lang="en-US" sz="1400" dirty="0"/>
          </a:p>
        </p:txBody>
      </p:sp>
      <p:sp>
        <p:nvSpPr>
          <p:cNvPr id="20" name="Module card 4"/>
          <p:cNvSpPr/>
          <p:nvPr/>
        </p:nvSpPr>
        <p:spPr>
          <a:xfrm>
            <a:off x="548640" y="3337560"/>
            <a:ext cx="2560320" cy="1234440"/>
          </a:xfrm>
          <a:prstGeom prst="roundRect">
            <a:avLst>
              <a:gd name="adj" fmla="val 8889"/>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21" name="Kanban Board circle"/>
          <p:cNvSpPr/>
          <p:nvPr/>
        </p:nvSpPr>
        <p:spPr>
          <a:xfrm>
            <a:off x="685800" y="3474720"/>
            <a:ext cx="411480" cy="411480"/>
          </a:xfrm>
          <a:prstGeom prst="ellipse">
            <a:avLst/>
          </a:prstGeom>
          <a:solidFill>
            <a:schemeClr val="accent1"/>
          </a:solidFill>
          <a:ln/>
        </p:spPr>
      </p:sp>
      <p:pic>
        <p:nvPicPr>
          <p:cNvPr id="22" name="Kanban Board icon" descr="Kanban Board"/>
          <p:cNvPicPr>
            <a:picLocks noChangeAspect="1"/>
          </p:cNvPicPr>
          <p:nvPr/>
        </p:nvPicPr>
        <p:blipFill>
          <a:blip r:embed="rId6"/>
          <a:stretch>
            <a:fillRect/>
          </a:stretch>
        </p:blipFill>
        <p:spPr>
          <a:xfrm>
            <a:off x="801014" y="3589934"/>
            <a:ext cx="181051" cy="181051"/>
          </a:xfrm>
          <a:prstGeom prst="rect">
            <a:avLst/>
          </a:prstGeom>
        </p:spPr>
      </p:pic>
      <p:sp>
        <p:nvSpPr>
          <p:cNvPr id="23" name="Module title 4"/>
          <p:cNvSpPr txBox="1"/>
          <p:nvPr/>
        </p:nvSpPr>
        <p:spPr>
          <a:xfrm>
            <a:off x="1207008" y="3474720"/>
            <a:ext cx="1828800" cy="411480"/>
          </a:xfrm>
          <a:prstGeom prst="rect">
            <a:avLst/>
          </a:prstGeom>
          <a:noFill/>
          <a:ln/>
        </p:spPr>
        <p:txBody>
          <a:bodyPr wrap="square" lIns="0" tIns="0" rIns="0" bIns="0" rtlCol="0" anchor="ctr"/>
          <a:lstStyle/>
          <a:p>
            <a:pPr marL="0" indent="0" algn="l">
              <a:buNone/>
            </a:pPr>
            <a:r>
              <a:rPr lang="en-US" sz="1400" b="1" dirty="0">
                <a:solidFill>
                  <a:schemeClr val="tx2"/>
                </a:solidFill>
              </a:rPr>
              <a:t>Kanban Board</a:t>
            </a:r>
            <a:endParaRPr lang="en-US" sz="1400" dirty="0"/>
          </a:p>
        </p:txBody>
      </p:sp>
      <p:sp>
        <p:nvSpPr>
          <p:cNvPr id="24" name="Module text 4"/>
          <p:cNvSpPr txBox="1"/>
          <p:nvPr/>
        </p:nvSpPr>
        <p:spPr>
          <a:xfrm>
            <a:off x="685800" y="3995928"/>
            <a:ext cx="2286000" cy="502920"/>
          </a:xfrm>
          <a:prstGeom prst="rect">
            <a:avLst/>
          </a:prstGeom>
          <a:noFill/>
          <a:ln/>
        </p:spPr>
        <p:txBody>
          <a:bodyPr wrap="square" lIns="0" tIns="0" rIns="0" bIns="0" rtlCol="0" anchor="t"/>
          <a:lstStyle/>
          <a:p>
            <a:pPr marL="0" indent="0" algn="l">
              <a:buNone/>
            </a:pPr>
            <a:r>
              <a:rPr lang="en-US" sz="1400" dirty="0">
                <a:solidFill>
                  <a:schemeClr val="tx1"/>
                </a:solidFill>
              </a:rPr>
              <a:t>Visualize task progress.</a:t>
            </a:r>
            <a:endParaRPr lang="en-US" sz="1400" dirty="0"/>
          </a:p>
        </p:txBody>
      </p:sp>
      <p:sp>
        <p:nvSpPr>
          <p:cNvPr id="25" name="Module card 5"/>
          <p:cNvSpPr/>
          <p:nvPr/>
        </p:nvSpPr>
        <p:spPr>
          <a:xfrm>
            <a:off x="3291840" y="3337560"/>
            <a:ext cx="2560320" cy="1234440"/>
          </a:xfrm>
          <a:prstGeom prst="roundRect">
            <a:avLst>
              <a:gd name="adj" fmla="val 8889"/>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26" name="Collaboration circle"/>
          <p:cNvSpPr/>
          <p:nvPr/>
        </p:nvSpPr>
        <p:spPr>
          <a:xfrm>
            <a:off x="3429000" y="3474720"/>
            <a:ext cx="411480" cy="411480"/>
          </a:xfrm>
          <a:prstGeom prst="ellipse">
            <a:avLst/>
          </a:prstGeom>
          <a:solidFill>
            <a:schemeClr val="accent1"/>
          </a:solidFill>
          <a:ln/>
        </p:spPr>
      </p:sp>
      <p:pic>
        <p:nvPicPr>
          <p:cNvPr id="27" name="Collaboration icon" descr="Collaboration"/>
          <p:cNvPicPr>
            <a:picLocks noChangeAspect="1"/>
          </p:cNvPicPr>
          <p:nvPr/>
        </p:nvPicPr>
        <p:blipFill>
          <a:blip r:embed="rId7"/>
          <a:stretch>
            <a:fillRect/>
          </a:stretch>
        </p:blipFill>
        <p:spPr>
          <a:xfrm>
            <a:off x="3544214" y="3589934"/>
            <a:ext cx="181051" cy="181051"/>
          </a:xfrm>
          <a:prstGeom prst="rect">
            <a:avLst/>
          </a:prstGeom>
        </p:spPr>
      </p:pic>
      <p:sp>
        <p:nvSpPr>
          <p:cNvPr id="28" name="Module title 5"/>
          <p:cNvSpPr txBox="1"/>
          <p:nvPr/>
        </p:nvSpPr>
        <p:spPr>
          <a:xfrm>
            <a:off x="3950208" y="3474720"/>
            <a:ext cx="1828800" cy="411480"/>
          </a:xfrm>
          <a:prstGeom prst="rect">
            <a:avLst/>
          </a:prstGeom>
          <a:noFill/>
          <a:ln/>
        </p:spPr>
        <p:txBody>
          <a:bodyPr wrap="square" lIns="0" tIns="0" rIns="0" bIns="0" rtlCol="0" anchor="ctr"/>
          <a:lstStyle/>
          <a:p>
            <a:pPr marL="0" indent="0" algn="l">
              <a:buNone/>
            </a:pPr>
            <a:r>
              <a:rPr lang="en-US" sz="1400" b="1" dirty="0">
                <a:solidFill>
                  <a:schemeClr val="tx2"/>
                </a:solidFill>
              </a:rPr>
              <a:t>Collaboration</a:t>
            </a:r>
            <a:endParaRPr lang="en-US" sz="1400" dirty="0"/>
          </a:p>
        </p:txBody>
      </p:sp>
      <p:sp>
        <p:nvSpPr>
          <p:cNvPr id="29" name="Module text 5"/>
          <p:cNvSpPr txBox="1"/>
          <p:nvPr/>
        </p:nvSpPr>
        <p:spPr>
          <a:xfrm>
            <a:off x="3429000" y="3995928"/>
            <a:ext cx="2286000" cy="502920"/>
          </a:xfrm>
          <a:prstGeom prst="rect">
            <a:avLst/>
          </a:prstGeom>
          <a:noFill/>
          <a:ln/>
        </p:spPr>
        <p:txBody>
          <a:bodyPr wrap="square" lIns="0" tIns="0" rIns="0" bIns="0" rtlCol="0" anchor="t"/>
          <a:lstStyle/>
          <a:p>
            <a:pPr marL="0" indent="0" algn="l">
              <a:buNone/>
            </a:pPr>
            <a:r>
              <a:rPr lang="en-US" sz="1400" dirty="0">
                <a:solidFill>
                  <a:schemeClr val="tx1"/>
                </a:solidFill>
              </a:rPr>
              <a:t>Share discussions and review sprint outcomes.</a:t>
            </a:r>
            <a:endParaRPr lang="en-US" sz="1400" dirty="0"/>
          </a:p>
        </p:txBody>
      </p:sp>
      <p:sp>
        <p:nvSpPr>
          <p:cNvPr id="30" name="Module card 6"/>
          <p:cNvSpPr/>
          <p:nvPr/>
        </p:nvSpPr>
        <p:spPr>
          <a:xfrm>
            <a:off x="6035040" y="3337560"/>
            <a:ext cx="2560320" cy="1234440"/>
          </a:xfrm>
          <a:prstGeom prst="roundRect">
            <a:avLst>
              <a:gd name="adj" fmla="val 8889"/>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31" name="QA and Release Management circle"/>
          <p:cNvSpPr/>
          <p:nvPr/>
        </p:nvSpPr>
        <p:spPr>
          <a:xfrm>
            <a:off x="6172200" y="3474720"/>
            <a:ext cx="411480" cy="411480"/>
          </a:xfrm>
          <a:prstGeom prst="ellipse">
            <a:avLst/>
          </a:prstGeom>
          <a:solidFill>
            <a:schemeClr val="accent1"/>
          </a:solidFill>
          <a:ln/>
        </p:spPr>
      </p:sp>
      <p:pic>
        <p:nvPicPr>
          <p:cNvPr id="32" name="QA and Release Management icon" descr="QA and Release Management"/>
          <p:cNvPicPr>
            <a:picLocks noChangeAspect="1"/>
          </p:cNvPicPr>
          <p:nvPr/>
        </p:nvPicPr>
        <p:blipFill>
          <a:blip r:embed="rId8"/>
          <a:stretch>
            <a:fillRect/>
          </a:stretch>
        </p:blipFill>
        <p:spPr>
          <a:xfrm>
            <a:off x="6287414" y="3589934"/>
            <a:ext cx="181051" cy="181051"/>
          </a:xfrm>
          <a:prstGeom prst="rect">
            <a:avLst/>
          </a:prstGeom>
        </p:spPr>
      </p:pic>
      <p:sp>
        <p:nvSpPr>
          <p:cNvPr id="33" name="Module title 6"/>
          <p:cNvSpPr txBox="1"/>
          <p:nvPr/>
        </p:nvSpPr>
        <p:spPr>
          <a:xfrm>
            <a:off x="6693408" y="3474720"/>
            <a:ext cx="1828800" cy="411480"/>
          </a:xfrm>
          <a:prstGeom prst="rect">
            <a:avLst/>
          </a:prstGeom>
          <a:noFill/>
          <a:ln/>
        </p:spPr>
        <p:txBody>
          <a:bodyPr wrap="square" lIns="0" tIns="0" rIns="0" bIns="0" rtlCol="0" anchor="ctr"/>
          <a:lstStyle/>
          <a:p>
            <a:pPr marL="0" indent="0" algn="l">
              <a:buNone/>
            </a:pPr>
            <a:r>
              <a:rPr lang="en-US" sz="1400" b="1" dirty="0">
                <a:solidFill>
                  <a:schemeClr val="tx2"/>
                </a:solidFill>
              </a:rPr>
              <a:t>QA and Release Management</a:t>
            </a:r>
            <a:endParaRPr lang="en-US" sz="1400" dirty="0"/>
          </a:p>
        </p:txBody>
      </p:sp>
      <p:sp>
        <p:nvSpPr>
          <p:cNvPr id="34" name="Module text 6"/>
          <p:cNvSpPr txBox="1"/>
          <p:nvPr/>
        </p:nvSpPr>
        <p:spPr>
          <a:xfrm>
            <a:off x="6172200" y="3995928"/>
            <a:ext cx="2286000" cy="502920"/>
          </a:xfrm>
          <a:prstGeom prst="rect">
            <a:avLst/>
          </a:prstGeom>
          <a:noFill/>
          <a:ln/>
        </p:spPr>
        <p:txBody>
          <a:bodyPr wrap="square" lIns="0" tIns="0" rIns="0" bIns="0" rtlCol="0" anchor="t"/>
          <a:lstStyle/>
          <a:p>
            <a:pPr marL="0" indent="0" algn="l">
              <a:buNone/>
            </a:pPr>
            <a:r>
              <a:rPr lang="en-US" sz="1400" dirty="0">
                <a:solidFill>
                  <a:schemeClr val="tx1"/>
                </a:solidFill>
              </a:rPr>
              <a:t>Organize testing and release information.</a:t>
            </a:r>
            <a:endParaRPr lang="en-US" sz="1400" dirty="0"/>
          </a:p>
        </p:txBody>
      </p:sp>
      <p:sp>
        <p:nvSpPr>
          <p:cNvPr id="35" name="Slide Number Placeholder 0"/>
          <p:cNvSpPr>
            <a:spLocks noGrp="1"/>
          </p:cNvSpPr>
          <p:nvPr>
            <p:ph type="sldNum" sz="quarter" idx="4294967295"/>
          </p:nvPr>
        </p:nvSpPr>
        <p:spPr>
          <a:xfrm>
            <a:off x="8046720" y="4727448"/>
            <a:ext cx="548640" cy="246888"/>
          </a:xfrm>
          <a:prstGeom prst="rect">
            <a:avLst/>
          </a:prstGeom>
          <a:extLst>
            <a:ext uri="{C572A759-6A51-4108-AA02-DFA0A04FC94B}">
              <ma14:wrappingTextBoxFlag xmlns:ma14="http://schemas.microsoft.com/office/mac/drawingml/2011/main" xmlns="" val="0"/>
            </a:ext>
          </a:extLst>
        </p:spPr>
        <p:txBody>
          <a:bodyPr/>
          <a:lstStyle>
            <a:lvl1pPr>
              <a:defRPr sz="1000">
                <a:solidFill>
                  <a:srgbClr val="123D2D"/>
                </a:solidFill>
                <a:latin typeface="Calibri"/>
                <a:ea typeface="Calibri"/>
                <a:cs typeface="Calibri"/>
              </a:defRPr>
            </a:lvl1pPr>
          </a:lstStyle>
          <a:p>
            <a:pPr algn="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295A1-C4D7-CC01-6526-6775C7B9E52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7D8CC14-2A38-3445-5475-3E87294C5272}"/>
              </a:ext>
            </a:extLst>
          </p:cNvPr>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dirty="0"/>
              <a:t>Novelty</a:t>
            </a:r>
            <a:endParaRPr lang="en-US" sz="3200" dirty="0"/>
          </a:p>
        </p:txBody>
      </p:sp>
      <p:sp>
        <p:nvSpPr>
          <p:cNvPr id="3" name="Frontend card">
            <a:extLst>
              <a:ext uri="{FF2B5EF4-FFF2-40B4-BE49-F238E27FC236}">
                <a16:creationId xmlns:a16="http://schemas.microsoft.com/office/drawing/2014/main" id="{278B5289-9CC7-AF78-B050-75F17D2B3BF6}"/>
              </a:ext>
            </a:extLst>
          </p:cNvPr>
          <p:cNvSpPr/>
          <p:nvPr/>
        </p:nvSpPr>
        <p:spPr>
          <a:xfrm>
            <a:off x="606994" y="936628"/>
            <a:ext cx="8163428" cy="2971559"/>
          </a:xfrm>
          <a:prstGeom prst="roundRect">
            <a:avLst>
              <a:gd name="adj" fmla="val 4800"/>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txBody>
          <a:bodyPr/>
          <a:lstStyle/>
          <a:p>
            <a:endParaRPr lang="en-IN" dirty="0"/>
          </a:p>
        </p:txBody>
      </p:sp>
      <p:pic>
        <p:nvPicPr>
          <p:cNvPr id="5" name="Frontend icon" descr="Frontend">
            <a:extLst>
              <a:ext uri="{FF2B5EF4-FFF2-40B4-BE49-F238E27FC236}">
                <a16:creationId xmlns:a16="http://schemas.microsoft.com/office/drawing/2014/main" id="{A53F71AE-465C-1F46-25CF-8F927E7B5F30}"/>
              </a:ext>
            </a:extLst>
          </p:cNvPr>
          <p:cNvPicPr>
            <a:picLocks noChangeAspect="1"/>
          </p:cNvPicPr>
          <p:nvPr/>
        </p:nvPicPr>
        <p:blipFill>
          <a:blip r:embed="rId3"/>
          <a:stretch>
            <a:fillRect/>
          </a:stretch>
        </p:blipFill>
        <p:spPr>
          <a:xfrm>
            <a:off x="2612481" y="989054"/>
            <a:ext cx="168981" cy="168981"/>
          </a:xfrm>
          <a:prstGeom prst="rect">
            <a:avLst/>
          </a:prstGeom>
        </p:spPr>
      </p:pic>
      <p:sp>
        <p:nvSpPr>
          <p:cNvPr id="6" name="Frontend header">
            <a:extLst>
              <a:ext uri="{FF2B5EF4-FFF2-40B4-BE49-F238E27FC236}">
                <a16:creationId xmlns:a16="http://schemas.microsoft.com/office/drawing/2014/main" id="{2FDB83C5-FD12-36C1-F5C8-111DF3E23B93}"/>
              </a:ext>
            </a:extLst>
          </p:cNvPr>
          <p:cNvSpPr txBox="1"/>
          <p:nvPr/>
        </p:nvSpPr>
        <p:spPr>
          <a:xfrm>
            <a:off x="821757" y="946690"/>
            <a:ext cx="3108960" cy="384048"/>
          </a:xfrm>
          <a:prstGeom prst="rect">
            <a:avLst/>
          </a:prstGeom>
          <a:noFill/>
          <a:ln/>
        </p:spPr>
        <p:txBody>
          <a:bodyPr wrap="square" lIns="0" tIns="0" rIns="0" bIns="0" rtlCol="0" anchor="ctr"/>
          <a:lstStyle/>
          <a:p>
            <a:endParaRPr lang="en-IN" sz="1400" dirty="0">
              <a:solidFill>
                <a:schemeClr val="accent1"/>
              </a:solidFill>
            </a:endParaRPr>
          </a:p>
        </p:txBody>
      </p:sp>
      <p:sp>
        <p:nvSpPr>
          <p:cNvPr id="7" name="Frontend item React">
            <a:extLst>
              <a:ext uri="{FF2B5EF4-FFF2-40B4-BE49-F238E27FC236}">
                <a16:creationId xmlns:a16="http://schemas.microsoft.com/office/drawing/2014/main" id="{615BBFA5-121B-EB73-EC4E-DC9470428315}"/>
              </a:ext>
            </a:extLst>
          </p:cNvPr>
          <p:cNvSpPr txBox="1"/>
          <p:nvPr/>
        </p:nvSpPr>
        <p:spPr>
          <a:xfrm>
            <a:off x="713231" y="1127825"/>
            <a:ext cx="8045758" cy="749808"/>
          </a:xfrm>
          <a:prstGeom prst="rect">
            <a:avLst/>
          </a:prstGeom>
          <a:noFill/>
          <a:ln/>
        </p:spPr>
        <p:txBody>
          <a:bodyPr wrap="square" lIns="0" tIns="0" rIns="0" bIns="0" rtlCol="0" anchor="t"/>
          <a:lstStyle/>
          <a:p>
            <a:pPr>
              <a:spcAft>
                <a:spcPts val="100"/>
              </a:spcAft>
            </a:pPr>
            <a:r>
              <a:rPr lang="en-US" sz="1500" b="1" dirty="0">
                <a:solidFill>
                  <a:schemeClr val="accent1"/>
                </a:solidFill>
              </a:rPr>
              <a:t>QA-to-Bug Automation:</a:t>
            </a:r>
          </a:p>
          <a:p>
            <a:pPr>
              <a:spcAft>
                <a:spcPts val="100"/>
              </a:spcAft>
            </a:pPr>
            <a:r>
              <a:rPr lang="en-US" sz="1500" dirty="0"/>
              <a:t> When a test case fails, Stride allows users to create a bug ticket directly from the failed test, reducing manual work and improving traceability.</a:t>
            </a:r>
          </a:p>
          <a:p>
            <a:pPr>
              <a:spcAft>
                <a:spcPts val="100"/>
              </a:spcAft>
            </a:pPr>
            <a:endParaRPr lang="en-US" sz="1500" dirty="0"/>
          </a:p>
          <a:p>
            <a:pPr>
              <a:spcAft>
                <a:spcPts val="100"/>
              </a:spcAft>
            </a:pPr>
            <a:r>
              <a:rPr lang="en-US" sz="1500" b="1" dirty="0">
                <a:solidFill>
                  <a:schemeClr val="accent1"/>
                </a:solidFill>
              </a:rPr>
              <a:t>Retrospective-to-Task Conversion or backlog:</a:t>
            </a:r>
          </a:p>
          <a:p>
            <a:pPr>
              <a:spcAft>
                <a:spcPts val="100"/>
              </a:spcAft>
            </a:pPr>
            <a:r>
              <a:rPr lang="en-US" sz="1500" dirty="0"/>
              <a:t>Sprint retrospective action items can be converted into actual backlog tasks, helping teams turn lessons learned into improvements for the next sprint.</a:t>
            </a:r>
          </a:p>
          <a:p>
            <a:pPr>
              <a:spcAft>
                <a:spcPts val="100"/>
              </a:spcAft>
            </a:pPr>
            <a:endParaRPr lang="en-US" sz="1500" dirty="0"/>
          </a:p>
          <a:p>
            <a:pPr>
              <a:spcAft>
                <a:spcPts val="100"/>
              </a:spcAft>
            </a:pPr>
            <a:r>
              <a:rPr lang="en-US" sz="1500" b="1" dirty="0">
                <a:solidFill>
                  <a:schemeClr val="accent1"/>
                </a:solidFill>
              </a:rPr>
              <a:t>Automated Release Notes:</a:t>
            </a:r>
          </a:p>
          <a:p>
            <a:pPr>
              <a:spcAft>
                <a:spcPts val="100"/>
              </a:spcAft>
            </a:pPr>
            <a:r>
              <a:rPr lang="en-US" sz="1500" dirty="0"/>
              <a:t>Stride automatically generates categorized Markdown release notes from completed work items, reducing manual documentation.</a:t>
            </a:r>
          </a:p>
        </p:txBody>
      </p:sp>
      <p:sp>
        <p:nvSpPr>
          <p:cNvPr id="28" name="Slide Number Placeholder 0">
            <a:extLst>
              <a:ext uri="{FF2B5EF4-FFF2-40B4-BE49-F238E27FC236}">
                <a16:creationId xmlns:a16="http://schemas.microsoft.com/office/drawing/2014/main" id="{E5BB4A54-2D78-CA87-A318-5ED15BEC400D}"/>
              </a:ext>
            </a:extLst>
          </p:cNvPr>
          <p:cNvSpPr>
            <a:spLocks noGrp="1"/>
          </p:cNvSpPr>
          <p:nvPr>
            <p:ph type="sldNum" sz="quarter" idx="4294967295"/>
          </p:nvPr>
        </p:nvSpPr>
        <p:spPr>
          <a:xfrm>
            <a:off x="8046720" y="4727448"/>
            <a:ext cx="548640" cy="246888"/>
          </a:xfrm>
          <a:prstGeom prst="rect">
            <a:avLst/>
          </a:prstGeom>
          <a:extLst>
            <a:ext uri="{C572A759-6A51-4108-AA02-DFA0A04FC94B}">
              <ma14:wrappingTextBoxFlag xmlns="" xmlns:ma14="http://schemas.microsoft.com/office/mac/drawingml/2011/main" val="0"/>
            </a:ext>
          </a:extLst>
        </p:spPr>
        <p:txBody>
          <a:bodyPr/>
          <a:lstStyle>
            <a:lvl1pPr>
              <a:defRPr sz="1000">
                <a:solidFill>
                  <a:srgbClr val="123D2D"/>
                </a:solidFill>
                <a:latin typeface="Calibri"/>
                <a:ea typeface="Calibri"/>
                <a:cs typeface="Calibri"/>
              </a:defRPr>
            </a:lvl1pPr>
          </a:lstStyle>
          <a:p>
            <a:pPr algn="r"/>
            <a:fld id="{F7021451-1387-4CA6-816F-3879F97B5CBC}" type="slidenum">
              <a:rPr lang="en-US" b="1"/>
              <a:t>5</a:t>
            </a:fld>
            <a:endParaRPr lang="en-US"/>
          </a:p>
        </p:txBody>
      </p:sp>
      <p:sp>
        <p:nvSpPr>
          <p:cNvPr id="30" name="Data storage card">
            <a:extLst>
              <a:ext uri="{FF2B5EF4-FFF2-40B4-BE49-F238E27FC236}">
                <a16:creationId xmlns:a16="http://schemas.microsoft.com/office/drawing/2014/main" id="{8E2B24EA-6087-3738-E103-CF12EB291D29}"/>
              </a:ext>
            </a:extLst>
          </p:cNvPr>
          <p:cNvSpPr/>
          <p:nvPr/>
        </p:nvSpPr>
        <p:spPr>
          <a:xfrm>
            <a:off x="665348" y="3961247"/>
            <a:ext cx="8046720" cy="660082"/>
          </a:xfrm>
          <a:prstGeom prst="roundRect">
            <a:avLst>
              <a:gd name="adj" fmla="val 10435"/>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txBody>
          <a:bodyPr/>
          <a:lstStyle/>
          <a:p>
            <a:r>
              <a:rPr lang="en-US" b="1" dirty="0">
                <a:solidFill>
                  <a:schemeClr val="accent1"/>
                </a:solidFill>
              </a:rPr>
              <a:t>Key </a:t>
            </a:r>
            <a:r>
              <a:rPr lang="en-US" b="1" dirty="0" err="1">
                <a:solidFill>
                  <a:schemeClr val="accent1"/>
                </a:solidFill>
              </a:rPr>
              <a:t>Innovation:</a:t>
            </a:r>
            <a:r>
              <a:rPr lang="en-US" dirty="0" err="1"/>
              <a:t>Connecting</a:t>
            </a:r>
            <a:r>
              <a:rPr lang="en-US" dirty="0"/>
              <a:t> planning, testing, team improvement, and release documentation in one integrated workflow.</a:t>
            </a:r>
            <a:endParaRPr lang="en-IN" dirty="0"/>
          </a:p>
        </p:txBody>
      </p:sp>
    </p:spTree>
    <p:extLst>
      <p:ext uri="{BB962C8B-B14F-4D97-AF65-F5344CB8AC3E}">
        <p14:creationId xmlns:p14="http://schemas.microsoft.com/office/powerpoint/2010/main" val="2320797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200" b="1" dirty="0">
                <a:solidFill>
                  <a:schemeClr val="tx2"/>
                </a:solidFill>
              </a:rPr>
              <a:t>Key Features</a:t>
            </a:r>
            <a:endParaRPr lang="en-US" sz="3200" dirty="0"/>
          </a:p>
        </p:txBody>
      </p:sp>
      <p:sp>
        <p:nvSpPr>
          <p:cNvPr id="3" name="Feature card 1"/>
          <p:cNvSpPr/>
          <p:nvPr/>
        </p:nvSpPr>
        <p:spPr>
          <a:xfrm>
            <a:off x="548640" y="1234440"/>
            <a:ext cx="3931920" cy="713232"/>
          </a:xfrm>
          <a:prstGeom prst="roundRect">
            <a:avLst>
              <a:gd name="adj" fmla="val 15385"/>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4" name="Product Backlog circle"/>
          <p:cNvSpPr/>
          <p:nvPr/>
        </p:nvSpPr>
        <p:spPr>
          <a:xfrm>
            <a:off x="685800" y="1362456"/>
            <a:ext cx="457200" cy="457200"/>
          </a:xfrm>
          <a:prstGeom prst="ellipse">
            <a:avLst/>
          </a:prstGeom>
          <a:solidFill>
            <a:schemeClr val="accent1"/>
          </a:solidFill>
          <a:ln/>
        </p:spPr>
      </p:sp>
      <p:pic>
        <p:nvPicPr>
          <p:cNvPr id="5" name="Product Backlog icon" descr="Product Backlog"/>
          <p:cNvPicPr>
            <a:picLocks noChangeAspect="1"/>
          </p:cNvPicPr>
          <p:nvPr/>
        </p:nvPicPr>
        <p:blipFill>
          <a:blip r:embed="rId3"/>
          <a:stretch>
            <a:fillRect/>
          </a:stretch>
        </p:blipFill>
        <p:spPr>
          <a:xfrm>
            <a:off x="813816" y="1490472"/>
            <a:ext cx="201168" cy="201168"/>
          </a:xfrm>
          <a:prstGeom prst="rect">
            <a:avLst/>
          </a:prstGeom>
        </p:spPr>
      </p:pic>
      <p:sp>
        <p:nvSpPr>
          <p:cNvPr id="6" name="Feature text 1"/>
          <p:cNvSpPr txBox="1"/>
          <p:nvPr/>
        </p:nvSpPr>
        <p:spPr>
          <a:xfrm>
            <a:off x="1298448" y="1271016"/>
            <a:ext cx="3108960" cy="640080"/>
          </a:xfrm>
          <a:prstGeom prst="rect">
            <a:avLst/>
          </a:prstGeom>
          <a:noFill/>
          <a:ln/>
        </p:spPr>
        <p:txBody>
          <a:bodyPr wrap="square" lIns="0" tIns="0" rIns="0" bIns="0" rtlCol="0" anchor="ctr"/>
          <a:lstStyle/>
          <a:p>
            <a:pPr marL="0" indent="0" algn="l">
              <a:spcAft>
                <a:spcPts val="100"/>
              </a:spcAft>
              <a:buNone/>
            </a:pPr>
            <a:r>
              <a:rPr lang="en-US" sz="1500" b="1" dirty="0">
                <a:solidFill>
                  <a:schemeClr val="tx2"/>
                </a:solidFill>
              </a:rPr>
              <a:t>Product Backlog</a:t>
            </a:r>
            <a:endParaRPr lang="en-US" sz="1500" dirty="0"/>
          </a:p>
          <a:p>
            <a:pPr marL="0" indent="0" algn="l">
              <a:buNone/>
            </a:pPr>
            <a:r>
              <a:rPr lang="en-US" sz="1400" dirty="0">
                <a:solidFill>
                  <a:schemeClr val="tx1"/>
                </a:solidFill>
              </a:rPr>
              <a:t>Prioritized user stories, tasks, and bugs.</a:t>
            </a:r>
            <a:endParaRPr lang="en-US" sz="1500" dirty="0"/>
          </a:p>
        </p:txBody>
      </p:sp>
      <p:sp>
        <p:nvSpPr>
          <p:cNvPr id="7" name="Feature card 2"/>
          <p:cNvSpPr/>
          <p:nvPr/>
        </p:nvSpPr>
        <p:spPr>
          <a:xfrm>
            <a:off x="548640" y="2057400"/>
            <a:ext cx="3931920" cy="713232"/>
          </a:xfrm>
          <a:prstGeom prst="roundRect">
            <a:avLst>
              <a:gd name="adj" fmla="val 15385"/>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8" name="Sprint Management circle"/>
          <p:cNvSpPr/>
          <p:nvPr/>
        </p:nvSpPr>
        <p:spPr>
          <a:xfrm>
            <a:off x="685800" y="2185416"/>
            <a:ext cx="457200" cy="457200"/>
          </a:xfrm>
          <a:prstGeom prst="ellipse">
            <a:avLst/>
          </a:prstGeom>
          <a:solidFill>
            <a:schemeClr val="accent1"/>
          </a:solidFill>
          <a:ln/>
        </p:spPr>
      </p:sp>
      <p:pic>
        <p:nvPicPr>
          <p:cNvPr id="9" name="Sprint Management icon" descr="Sprint Management"/>
          <p:cNvPicPr>
            <a:picLocks noChangeAspect="1"/>
          </p:cNvPicPr>
          <p:nvPr/>
        </p:nvPicPr>
        <p:blipFill>
          <a:blip r:embed="rId4"/>
          <a:stretch>
            <a:fillRect/>
          </a:stretch>
        </p:blipFill>
        <p:spPr>
          <a:xfrm>
            <a:off x="813816" y="2313432"/>
            <a:ext cx="201168" cy="201168"/>
          </a:xfrm>
          <a:prstGeom prst="rect">
            <a:avLst/>
          </a:prstGeom>
        </p:spPr>
      </p:pic>
      <p:sp>
        <p:nvSpPr>
          <p:cNvPr id="10" name="Feature text 2"/>
          <p:cNvSpPr txBox="1"/>
          <p:nvPr/>
        </p:nvSpPr>
        <p:spPr>
          <a:xfrm>
            <a:off x="1298448" y="2093976"/>
            <a:ext cx="3108960" cy="640080"/>
          </a:xfrm>
          <a:prstGeom prst="rect">
            <a:avLst/>
          </a:prstGeom>
          <a:noFill/>
          <a:ln/>
        </p:spPr>
        <p:txBody>
          <a:bodyPr wrap="square" lIns="0" tIns="0" rIns="0" bIns="0" rtlCol="0" anchor="ctr"/>
          <a:lstStyle/>
          <a:p>
            <a:pPr marL="0" indent="0" algn="l">
              <a:spcAft>
                <a:spcPts val="100"/>
              </a:spcAft>
              <a:buNone/>
            </a:pPr>
            <a:r>
              <a:rPr lang="en-US" sz="1500" b="1" dirty="0">
                <a:solidFill>
                  <a:schemeClr val="tx2"/>
                </a:solidFill>
              </a:rPr>
              <a:t>Sprint Management</a:t>
            </a:r>
            <a:endParaRPr lang="en-US" sz="1500" dirty="0"/>
          </a:p>
          <a:p>
            <a:pPr marL="0" indent="0" algn="l">
              <a:buNone/>
            </a:pPr>
            <a:r>
              <a:rPr lang="en-US" sz="1400" dirty="0">
                <a:solidFill>
                  <a:schemeClr val="tx1"/>
                </a:solidFill>
              </a:rPr>
              <a:t>Time-boxed development cycles.</a:t>
            </a:r>
            <a:endParaRPr lang="en-US" sz="1500" dirty="0"/>
          </a:p>
        </p:txBody>
      </p:sp>
      <p:sp>
        <p:nvSpPr>
          <p:cNvPr id="11" name="Feature card 3"/>
          <p:cNvSpPr/>
          <p:nvPr/>
        </p:nvSpPr>
        <p:spPr>
          <a:xfrm>
            <a:off x="548640" y="2880360"/>
            <a:ext cx="3931920" cy="713232"/>
          </a:xfrm>
          <a:prstGeom prst="roundRect">
            <a:avLst>
              <a:gd name="adj" fmla="val 15385"/>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12" name="Kanban Board circle"/>
          <p:cNvSpPr/>
          <p:nvPr/>
        </p:nvSpPr>
        <p:spPr>
          <a:xfrm>
            <a:off x="685800" y="3008376"/>
            <a:ext cx="457200" cy="457200"/>
          </a:xfrm>
          <a:prstGeom prst="ellipse">
            <a:avLst/>
          </a:prstGeom>
          <a:solidFill>
            <a:schemeClr val="accent1"/>
          </a:solidFill>
          <a:ln/>
        </p:spPr>
      </p:sp>
      <p:pic>
        <p:nvPicPr>
          <p:cNvPr id="13" name="Kanban Board icon" descr="Kanban Board"/>
          <p:cNvPicPr>
            <a:picLocks noChangeAspect="1"/>
          </p:cNvPicPr>
          <p:nvPr/>
        </p:nvPicPr>
        <p:blipFill>
          <a:blip r:embed="rId5"/>
          <a:stretch>
            <a:fillRect/>
          </a:stretch>
        </p:blipFill>
        <p:spPr>
          <a:xfrm>
            <a:off x="813816" y="3136392"/>
            <a:ext cx="201168" cy="201168"/>
          </a:xfrm>
          <a:prstGeom prst="rect">
            <a:avLst/>
          </a:prstGeom>
        </p:spPr>
      </p:pic>
      <p:sp>
        <p:nvSpPr>
          <p:cNvPr id="14" name="Feature text 3"/>
          <p:cNvSpPr txBox="1"/>
          <p:nvPr/>
        </p:nvSpPr>
        <p:spPr>
          <a:xfrm>
            <a:off x="1298448" y="2916936"/>
            <a:ext cx="3108960" cy="640080"/>
          </a:xfrm>
          <a:prstGeom prst="rect">
            <a:avLst/>
          </a:prstGeom>
          <a:noFill/>
          <a:ln/>
        </p:spPr>
        <p:txBody>
          <a:bodyPr wrap="square" lIns="0" tIns="0" rIns="0" bIns="0" rtlCol="0" anchor="ctr"/>
          <a:lstStyle/>
          <a:p>
            <a:pPr marL="0" indent="0" algn="l">
              <a:spcAft>
                <a:spcPts val="100"/>
              </a:spcAft>
              <a:buNone/>
            </a:pPr>
            <a:r>
              <a:rPr lang="en-US" sz="1500" b="1" dirty="0">
                <a:solidFill>
                  <a:schemeClr val="tx2"/>
                </a:solidFill>
              </a:rPr>
              <a:t>Kanban Board</a:t>
            </a:r>
            <a:endParaRPr lang="en-US" sz="1500" dirty="0"/>
          </a:p>
          <a:p>
            <a:pPr marL="0" indent="0" algn="l">
              <a:buNone/>
            </a:pPr>
            <a:r>
              <a:rPr lang="en-US" sz="1400" dirty="0">
                <a:solidFill>
                  <a:schemeClr val="tx1"/>
                </a:solidFill>
              </a:rPr>
              <a:t>Tasks by To Do, In Progress, and Done.</a:t>
            </a:r>
            <a:endParaRPr lang="en-US" sz="1500" dirty="0"/>
          </a:p>
        </p:txBody>
      </p:sp>
      <p:sp>
        <p:nvSpPr>
          <p:cNvPr id="15" name="Feature card 4"/>
          <p:cNvSpPr/>
          <p:nvPr/>
        </p:nvSpPr>
        <p:spPr>
          <a:xfrm>
            <a:off x="548640" y="3703320"/>
            <a:ext cx="3931920" cy="713232"/>
          </a:xfrm>
          <a:prstGeom prst="roundRect">
            <a:avLst>
              <a:gd name="adj" fmla="val 15385"/>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16" name="Time Tracking circle"/>
          <p:cNvSpPr/>
          <p:nvPr/>
        </p:nvSpPr>
        <p:spPr>
          <a:xfrm>
            <a:off x="685800" y="3831336"/>
            <a:ext cx="457200" cy="457200"/>
          </a:xfrm>
          <a:prstGeom prst="ellipse">
            <a:avLst/>
          </a:prstGeom>
          <a:solidFill>
            <a:schemeClr val="accent1"/>
          </a:solidFill>
          <a:ln/>
        </p:spPr>
      </p:sp>
      <p:pic>
        <p:nvPicPr>
          <p:cNvPr id="17" name="Time Tracking icon" descr="Time Tracking"/>
          <p:cNvPicPr>
            <a:picLocks noChangeAspect="1"/>
          </p:cNvPicPr>
          <p:nvPr/>
        </p:nvPicPr>
        <p:blipFill>
          <a:blip r:embed="rId6"/>
          <a:stretch>
            <a:fillRect/>
          </a:stretch>
        </p:blipFill>
        <p:spPr>
          <a:xfrm>
            <a:off x="813816" y="3959352"/>
            <a:ext cx="201168" cy="201168"/>
          </a:xfrm>
          <a:prstGeom prst="rect">
            <a:avLst/>
          </a:prstGeom>
        </p:spPr>
      </p:pic>
      <p:sp>
        <p:nvSpPr>
          <p:cNvPr id="18" name="Feature text 4"/>
          <p:cNvSpPr txBox="1"/>
          <p:nvPr/>
        </p:nvSpPr>
        <p:spPr>
          <a:xfrm>
            <a:off x="1298448" y="3739896"/>
            <a:ext cx="3108960" cy="640080"/>
          </a:xfrm>
          <a:prstGeom prst="rect">
            <a:avLst/>
          </a:prstGeom>
          <a:noFill/>
          <a:ln/>
        </p:spPr>
        <p:txBody>
          <a:bodyPr wrap="square" lIns="0" tIns="0" rIns="0" bIns="0" rtlCol="0" anchor="ctr"/>
          <a:lstStyle/>
          <a:p>
            <a:pPr marL="0" indent="0" algn="l">
              <a:spcAft>
                <a:spcPts val="100"/>
              </a:spcAft>
              <a:buNone/>
            </a:pPr>
            <a:r>
              <a:rPr lang="en-US" sz="1500" b="1" dirty="0">
                <a:solidFill>
                  <a:schemeClr val="tx2"/>
                </a:solidFill>
              </a:rPr>
              <a:t>Time Tracking</a:t>
            </a:r>
            <a:endParaRPr lang="en-US" sz="1500" dirty="0"/>
          </a:p>
          <a:p>
            <a:pPr marL="0" indent="0" algn="l">
              <a:buNone/>
            </a:pPr>
            <a:r>
              <a:rPr lang="en-US" sz="1400" dirty="0">
                <a:solidFill>
                  <a:schemeClr val="tx1"/>
                </a:solidFill>
              </a:rPr>
              <a:t>Time spent on work items.</a:t>
            </a:r>
            <a:endParaRPr lang="en-US" sz="1500" dirty="0"/>
          </a:p>
        </p:txBody>
      </p:sp>
      <p:sp>
        <p:nvSpPr>
          <p:cNvPr id="19" name="Feature card 5"/>
          <p:cNvSpPr/>
          <p:nvPr/>
        </p:nvSpPr>
        <p:spPr>
          <a:xfrm>
            <a:off x="4663440" y="1234440"/>
            <a:ext cx="3931920" cy="713232"/>
          </a:xfrm>
          <a:prstGeom prst="roundRect">
            <a:avLst>
              <a:gd name="adj" fmla="val 15385"/>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20" name="Quality Assurance circle"/>
          <p:cNvSpPr/>
          <p:nvPr/>
        </p:nvSpPr>
        <p:spPr>
          <a:xfrm>
            <a:off x="4800600" y="1362456"/>
            <a:ext cx="457200" cy="457200"/>
          </a:xfrm>
          <a:prstGeom prst="ellipse">
            <a:avLst/>
          </a:prstGeom>
          <a:solidFill>
            <a:schemeClr val="accent1"/>
          </a:solidFill>
          <a:ln/>
        </p:spPr>
      </p:sp>
      <p:pic>
        <p:nvPicPr>
          <p:cNvPr id="21" name="Quality Assurance icon" descr="Quality Assurance"/>
          <p:cNvPicPr>
            <a:picLocks noChangeAspect="1"/>
          </p:cNvPicPr>
          <p:nvPr/>
        </p:nvPicPr>
        <p:blipFill>
          <a:blip r:embed="rId7"/>
          <a:stretch>
            <a:fillRect/>
          </a:stretch>
        </p:blipFill>
        <p:spPr>
          <a:xfrm>
            <a:off x="4928616" y="1490472"/>
            <a:ext cx="201168" cy="201168"/>
          </a:xfrm>
          <a:prstGeom prst="rect">
            <a:avLst/>
          </a:prstGeom>
        </p:spPr>
      </p:pic>
      <p:sp>
        <p:nvSpPr>
          <p:cNvPr id="22" name="Feature text 5"/>
          <p:cNvSpPr txBox="1"/>
          <p:nvPr/>
        </p:nvSpPr>
        <p:spPr>
          <a:xfrm>
            <a:off x="5413248" y="1271016"/>
            <a:ext cx="3108960" cy="640080"/>
          </a:xfrm>
          <a:prstGeom prst="rect">
            <a:avLst/>
          </a:prstGeom>
          <a:noFill/>
          <a:ln/>
        </p:spPr>
        <p:txBody>
          <a:bodyPr wrap="square" lIns="0" tIns="0" rIns="0" bIns="0" rtlCol="0" anchor="ctr"/>
          <a:lstStyle/>
          <a:p>
            <a:pPr marL="0" indent="0" algn="l">
              <a:spcAft>
                <a:spcPts val="100"/>
              </a:spcAft>
              <a:buNone/>
            </a:pPr>
            <a:r>
              <a:rPr lang="en-US" sz="1500" b="1" dirty="0">
                <a:solidFill>
                  <a:schemeClr val="tx2"/>
                </a:solidFill>
              </a:rPr>
              <a:t>Quality Assurance</a:t>
            </a:r>
            <a:endParaRPr lang="en-US" sz="1500" dirty="0"/>
          </a:p>
          <a:p>
            <a:pPr marL="0" indent="0" algn="l">
              <a:buNone/>
            </a:pPr>
            <a:r>
              <a:rPr lang="en-US" sz="1400" dirty="0">
                <a:solidFill>
                  <a:schemeClr val="tx1"/>
                </a:solidFill>
              </a:rPr>
              <a:t>Test management and defect tracking.</a:t>
            </a:r>
            <a:endParaRPr lang="en-US" sz="1500" dirty="0"/>
          </a:p>
        </p:txBody>
      </p:sp>
      <p:sp>
        <p:nvSpPr>
          <p:cNvPr id="23" name="Feature card 6"/>
          <p:cNvSpPr/>
          <p:nvPr/>
        </p:nvSpPr>
        <p:spPr>
          <a:xfrm>
            <a:off x="4663440" y="2057400"/>
            <a:ext cx="3931920" cy="713232"/>
          </a:xfrm>
          <a:prstGeom prst="roundRect">
            <a:avLst>
              <a:gd name="adj" fmla="val 15385"/>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24" name="Release Management circle"/>
          <p:cNvSpPr/>
          <p:nvPr/>
        </p:nvSpPr>
        <p:spPr>
          <a:xfrm>
            <a:off x="4800600" y="2185416"/>
            <a:ext cx="457200" cy="457200"/>
          </a:xfrm>
          <a:prstGeom prst="ellipse">
            <a:avLst/>
          </a:prstGeom>
          <a:solidFill>
            <a:schemeClr val="accent1"/>
          </a:solidFill>
          <a:ln/>
        </p:spPr>
      </p:sp>
      <p:pic>
        <p:nvPicPr>
          <p:cNvPr id="25" name="Release Management icon" descr="Release Management"/>
          <p:cNvPicPr>
            <a:picLocks noChangeAspect="1"/>
          </p:cNvPicPr>
          <p:nvPr/>
        </p:nvPicPr>
        <p:blipFill>
          <a:blip r:embed="rId8"/>
          <a:stretch>
            <a:fillRect/>
          </a:stretch>
        </p:blipFill>
        <p:spPr>
          <a:xfrm>
            <a:off x="4928616" y="2313432"/>
            <a:ext cx="201168" cy="201168"/>
          </a:xfrm>
          <a:prstGeom prst="rect">
            <a:avLst/>
          </a:prstGeom>
        </p:spPr>
      </p:pic>
      <p:sp>
        <p:nvSpPr>
          <p:cNvPr id="26" name="Feature text 6"/>
          <p:cNvSpPr txBox="1"/>
          <p:nvPr/>
        </p:nvSpPr>
        <p:spPr>
          <a:xfrm>
            <a:off x="5413248" y="2093976"/>
            <a:ext cx="3108960" cy="640080"/>
          </a:xfrm>
          <a:prstGeom prst="rect">
            <a:avLst/>
          </a:prstGeom>
          <a:noFill/>
          <a:ln/>
        </p:spPr>
        <p:txBody>
          <a:bodyPr wrap="square" lIns="0" tIns="0" rIns="0" bIns="0" rtlCol="0" anchor="ctr"/>
          <a:lstStyle/>
          <a:p>
            <a:pPr marL="0" indent="0" algn="l">
              <a:spcAft>
                <a:spcPts val="100"/>
              </a:spcAft>
              <a:buNone/>
            </a:pPr>
            <a:r>
              <a:rPr lang="en-US" sz="1500" b="1" dirty="0">
                <a:solidFill>
                  <a:schemeClr val="tx2"/>
                </a:solidFill>
              </a:rPr>
              <a:t>Release Management</a:t>
            </a:r>
            <a:endParaRPr lang="en-US" sz="1500" dirty="0"/>
          </a:p>
          <a:p>
            <a:pPr marL="0" indent="0" algn="l">
              <a:buNone/>
            </a:pPr>
            <a:r>
              <a:rPr lang="en-US" sz="1400" dirty="0">
                <a:solidFill>
                  <a:schemeClr val="tx1"/>
                </a:solidFill>
              </a:rPr>
              <a:t>Release information and changelogs.</a:t>
            </a:r>
            <a:endParaRPr lang="en-US" sz="1500" dirty="0"/>
          </a:p>
        </p:txBody>
      </p:sp>
      <p:sp>
        <p:nvSpPr>
          <p:cNvPr id="27" name="Feature card 7"/>
          <p:cNvSpPr/>
          <p:nvPr/>
        </p:nvSpPr>
        <p:spPr>
          <a:xfrm>
            <a:off x="4663440" y="2880360"/>
            <a:ext cx="3931920" cy="713232"/>
          </a:xfrm>
          <a:prstGeom prst="roundRect">
            <a:avLst>
              <a:gd name="adj" fmla="val 15385"/>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28" name="Team Collaboration circle"/>
          <p:cNvSpPr/>
          <p:nvPr/>
        </p:nvSpPr>
        <p:spPr>
          <a:xfrm>
            <a:off x="4800600" y="3008376"/>
            <a:ext cx="457200" cy="457200"/>
          </a:xfrm>
          <a:prstGeom prst="ellipse">
            <a:avLst/>
          </a:prstGeom>
          <a:solidFill>
            <a:schemeClr val="accent1"/>
          </a:solidFill>
          <a:ln/>
        </p:spPr>
      </p:sp>
      <p:pic>
        <p:nvPicPr>
          <p:cNvPr id="29" name="Team Collaboration icon" descr="Team Collaboration"/>
          <p:cNvPicPr>
            <a:picLocks noChangeAspect="1"/>
          </p:cNvPicPr>
          <p:nvPr/>
        </p:nvPicPr>
        <p:blipFill>
          <a:blip r:embed="rId9"/>
          <a:stretch>
            <a:fillRect/>
          </a:stretch>
        </p:blipFill>
        <p:spPr>
          <a:xfrm>
            <a:off x="4928616" y="3136392"/>
            <a:ext cx="201168" cy="201168"/>
          </a:xfrm>
          <a:prstGeom prst="rect">
            <a:avLst/>
          </a:prstGeom>
        </p:spPr>
      </p:pic>
      <p:sp>
        <p:nvSpPr>
          <p:cNvPr id="30" name="Feature text 7"/>
          <p:cNvSpPr txBox="1"/>
          <p:nvPr/>
        </p:nvSpPr>
        <p:spPr>
          <a:xfrm>
            <a:off x="5413248" y="2916936"/>
            <a:ext cx="3108960" cy="640080"/>
          </a:xfrm>
          <a:prstGeom prst="rect">
            <a:avLst/>
          </a:prstGeom>
          <a:noFill/>
          <a:ln/>
        </p:spPr>
        <p:txBody>
          <a:bodyPr wrap="square" lIns="0" tIns="0" rIns="0" bIns="0" rtlCol="0" anchor="ctr"/>
          <a:lstStyle/>
          <a:p>
            <a:pPr marL="0" indent="0" algn="l">
              <a:spcAft>
                <a:spcPts val="100"/>
              </a:spcAft>
              <a:buNone/>
            </a:pPr>
            <a:r>
              <a:rPr lang="en-US" sz="1500" b="1" dirty="0">
                <a:solidFill>
                  <a:schemeClr val="tx2"/>
                </a:solidFill>
              </a:rPr>
              <a:t>Team Collaboration</a:t>
            </a:r>
            <a:endParaRPr lang="en-US" sz="1500" dirty="0"/>
          </a:p>
          <a:p>
            <a:pPr marL="0" indent="0" algn="l">
              <a:buNone/>
            </a:pPr>
            <a:r>
              <a:rPr lang="en-US" sz="1400" dirty="0">
                <a:solidFill>
                  <a:schemeClr val="tx1"/>
                </a:solidFill>
              </a:rPr>
              <a:t>Discussions and sprint retrospectives.</a:t>
            </a:r>
            <a:endParaRPr lang="en-US" sz="1500" dirty="0"/>
          </a:p>
        </p:txBody>
      </p:sp>
      <p:sp>
        <p:nvSpPr>
          <p:cNvPr id="31" name="Feature card 8"/>
          <p:cNvSpPr/>
          <p:nvPr/>
        </p:nvSpPr>
        <p:spPr>
          <a:xfrm>
            <a:off x="4663440" y="3703320"/>
            <a:ext cx="3931920" cy="713232"/>
          </a:xfrm>
          <a:prstGeom prst="roundRect">
            <a:avLst>
              <a:gd name="adj" fmla="val 15385"/>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32" name="Integrations circle"/>
          <p:cNvSpPr/>
          <p:nvPr/>
        </p:nvSpPr>
        <p:spPr>
          <a:xfrm>
            <a:off x="4800600" y="3831336"/>
            <a:ext cx="457200" cy="457200"/>
          </a:xfrm>
          <a:prstGeom prst="ellipse">
            <a:avLst/>
          </a:prstGeom>
          <a:solidFill>
            <a:schemeClr val="accent1"/>
          </a:solidFill>
          <a:ln/>
        </p:spPr>
      </p:sp>
      <p:pic>
        <p:nvPicPr>
          <p:cNvPr id="33" name="Integrations icon" descr="Integrations"/>
          <p:cNvPicPr>
            <a:picLocks noChangeAspect="1"/>
          </p:cNvPicPr>
          <p:nvPr/>
        </p:nvPicPr>
        <p:blipFill>
          <a:blip r:embed="rId10"/>
          <a:stretch>
            <a:fillRect/>
          </a:stretch>
        </p:blipFill>
        <p:spPr>
          <a:xfrm>
            <a:off x="4928616" y="3959352"/>
            <a:ext cx="201168" cy="201168"/>
          </a:xfrm>
          <a:prstGeom prst="rect">
            <a:avLst/>
          </a:prstGeom>
        </p:spPr>
      </p:pic>
      <p:sp>
        <p:nvSpPr>
          <p:cNvPr id="34" name="Feature text 8"/>
          <p:cNvSpPr txBox="1"/>
          <p:nvPr/>
        </p:nvSpPr>
        <p:spPr>
          <a:xfrm>
            <a:off x="5413248" y="3739896"/>
            <a:ext cx="3108960" cy="640080"/>
          </a:xfrm>
          <a:prstGeom prst="rect">
            <a:avLst/>
          </a:prstGeom>
          <a:noFill/>
          <a:ln/>
        </p:spPr>
        <p:txBody>
          <a:bodyPr wrap="square" lIns="0" tIns="0" rIns="0" bIns="0" rtlCol="0" anchor="ctr"/>
          <a:lstStyle/>
          <a:p>
            <a:pPr marL="0" indent="0" algn="l">
              <a:spcAft>
                <a:spcPts val="100"/>
              </a:spcAft>
              <a:buNone/>
            </a:pPr>
            <a:r>
              <a:rPr lang="en-US" sz="1500" b="1" dirty="0">
                <a:solidFill>
                  <a:schemeClr val="tx2"/>
                </a:solidFill>
              </a:rPr>
              <a:t>Integrations</a:t>
            </a:r>
            <a:endParaRPr lang="en-US" sz="1500" dirty="0"/>
          </a:p>
          <a:p>
            <a:pPr marL="0" indent="0" algn="l">
              <a:buNone/>
            </a:pPr>
            <a:r>
              <a:rPr lang="en-US" sz="1400" dirty="0">
                <a:solidFill>
                  <a:schemeClr val="tx1"/>
                </a:solidFill>
              </a:rPr>
              <a:t>Support for GitHub, GitLab, and CI/CD.</a:t>
            </a:r>
            <a:endParaRPr lang="en-US" sz="1500" dirty="0"/>
          </a:p>
        </p:txBody>
      </p:sp>
      <p:sp>
        <p:nvSpPr>
          <p:cNvPr id="35" name="Slide Number Placeholder 0"/>
          <p:cNvSpPr>
            <a:spLocks noGrp="1"/>
          </p:cNvSpPr>
          <p:nvPr>
            <p:ph type="sldNum" sz="quarter" idx="4294967295"/>
          </p:nvPr>
        </p:nvSpPr>
        <p:spPr>
          <a:xfrm>
            <a:off x="8046720" y="4727448"/>
            <a:ext cx="548640" cy="246888"/>
          </a:xfrm>
          <a:prstGeom prst="rect">
            <a:avLst/>
          </a:prstGeom>
          <a:extLst>
            <a:ext uri="{C572A759-6A51-4108-AA02-DFA0A04FC94B}">
              <ma14:wrappingTextBoxFlag xmlns:ma14="http://schemas.microsoft.com/office/mac/drawingml/2011/main" xmlns="" val="0"/>
            </a:ext>
          </a:extLst>
        </p:spPr>
        <p:txBody>
          <a:bodyPr/>
          <a:lstStyle>
            <a:lvl1pPr>
              <a:defRPr sz="1000">
                <a:solidFill>
                  <a:srgbClr val="123D2D"/>
                </a:solidFill>
                <a:latin typeface="Calibri"/>
                <a:ea typeface="Calibri"/>
                <a:cs typeface="Calibri"/>
              </a:defRPr>
            </a:lvl1pPr>
          </a:lstStyle>
          <a:p>
            <a:pPr algn="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200" b="1" dirty="0">
                <a:solidFill>
                  <a:schemeClr val="tx2"/>
                </a:solidFill>
              </a:rPr>
              <a:t>Technology Stack</a:t>
            </a:r>
            <a:endParaRPr lang="en-US" sz="3200" dirty="0"/>
          </a:p>
        </p:txBody>
      </p:sp>
      <p:sp>
        <p:nvSpPr>
          <p:cNvPr id="3" name="Frontend card"/>
          <p:cNvSpPr/>
          <p:nvPr/>
        </p:nvSpPr>
        <p:spPr>
          <a:xfrm>
            <a:off x="548640" y="1143000"/>
            <a:ext cx="3931920" cy="2286000"/>
          </a:xfrm>
          <a:prstGeom prst="roundRect">
            <a:avLst>
              <a:gd name="adj" fmla="val 4800"/>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4" name="Frontend circle"/>
          <p:cNvSpPr/>
          <p:nvPr/>
        </p:nvSpPr>
        <p:spPr>
          <a:xfrm>
            <a:off x="713232" y="1307592"/>
            <a:ext cx="384048" cy="384048"/>
          </a:xfrm>
          <a:prstGeom prst="ellipse">
            <a:avLst/>
          </a:prstGeom>
          <a:solidFill>
            <a:schemeClr val="accent1"/>
          </a:solidFill>
          <a:ln/>
        </p:spPr>
      </p:sp>
      <p:pic>
        <p:nvPicPr>
          <p:cNvPr id="5" name="Frontend icon" descr="Frontend"/>
          <p:cNvPicPr>
            <a:picLocks noChangeAspect="1"/>
          </p:cNvPicPr>
          <p:nvPr/>
        </p:nvPicPr>
        <p:blipFill>
          <a:blip r:embed="rId3"/>
          <a:stretch>
            <a:fillRect/>
          </a:stretch>
        </p:blipFill>
        <p:spPr>
          <a:xfrm>
            <a:off x="820765" y="1415125"/>
            <a:ext cx="168981" cy="168981"/>
          </a:xfrm>
          <a:prstGeom prst="rect">
            <a:avLst/>
          </a:prstGeom>
        </p:spPr>
      </p:pic>
      <p:sp>
        <p:nvSpPr>
          <p:cNvPr id="6" name="Frontend header"/>
          <p:cNvSpPr txBox="1"/>
          <p:nvPr/>
        </p:nvSpPr>
        <p:spPr>
          <a:xfrm>
            <a:off x="1188720" y="1307592"/>
            <a:ext cx="3108960" cy="384048"/>
          </a:xfrm>
          <a:prstGeom prst="rect">
            <a:avLst/>
          </a:prstGeom>
          <a:noFill/>
          <a:ln/>
        </p:spPr>
        <p:txBody>
          <a:bodyPr wrap="square" lIns="0" tIns="0" rIns="0" bIns="0" rtlCol="0" anchor="ctr"/>
          <a:lstStyle/>
          <a:p>
            <a:pPr marL="0" indent="0" algn="l">
              <a:buNone/>
            </a:pPr>
            <a:r>
              <a:rPr lang="en-US" sz="1400" b="1" dirty="0">
                <a:solidFill>
                  <a:schemeClr val="tx2"/>
                </a:solidFill>
              </a:rPr>
              <a:t>FRONTEND</a:t>
            </a:r>
            <a:endParaRPr lang="en-US" sz="1400" dirty="0"/>
          </a:p>
        </p:txBody>
      </p:sp>
      <p:sp>
        <p:nvSpPr>
          <p:cNvPr id="7" name="Frontend item React"/>
          <p:cNvSpPr txBox="1"/>
          <p:nvPr/>
        </p:nvSpPr>
        <p:spPr>
          <a:xfrm>
            <a:off x="713232" y="1783080"/>
            <a:ext cx="1783080" cy="749808"/>
          </a:xfrm>
          <a:prstGeom prst="rect">
            <a:avLst/>
          </a:prstGeom>
          <a:noFill/>
          <a:ln/>
        </p:spPr>
        <p:txBody>
          <a:bodyPr wrap="square" lIns="0" tIns="0" rIns="0" bIns="0" rtlCol="0" anchor="t"/>
          <a:lstStyle/>
          <a:p>
            <a:pPr marL="0" indent="0" algn="l">
              <a:spcAft>
                <a:spcPts val="100"/>
              </a:spcAft>
              <a:buNone/>
            </a:pPr>
            <a:r>
              <a:rPr lang="en-US" sz="1500" b="1" dirty="0">
                <a:solidFill>
                  <a:schemeClr val="accent1"/>
                </a:solidFill>
              </a:rPr>
              <a:t>React</a:t>
            </a:r>
            <a:endParaRPr lang="en-US" sz="1500" dirty="0"/>
          </a:p>
          <a:p>
            <a:pPr marL="0" indent="0" algn="l">
              <a:buNone/>
            </a:pPr>
            <a:r>
              <a:rPr lang="en-US" sz="1300" dirty="0">
                <a:solidFill>
                  <a:schemeClr val="tx1"/>
                </a:solidFill>
              </a:rPr>
              <a:t>Builds the interactive user interface.</a:t>
            </a:r>
            <a:endParaRPr lang="en-US" sz="1500" dirty="0"/>
          </a:p>
        </p:txBody>
      </p:sp>
      <p:sp>
        <p:nvSpPr>
          <p:cNvPr id="8" name="Frontend item TypeScript"/>
          <p:cNvSpPr txBox="1"/>
          <p:nvPr/>
        </p:nvSpPr>
        <p:spPr>
          <a:xfrm>
            <a:off x="2587752" y="1783080"/>
            <a:ext cx="1783080" cy="749808"/>
          </a:xfrm>
          <a:prstGeom prst="rect">
            <a:avLst/>
          </a:prstGeom>
          <a:noFill/>
          <a:ln/>
        </p:spPr>
        <p:txBody>
          <a:bodyPr wrap="square" lIns="0" tIns="0" rIns="0" bIns="0" rtlCol="0" anchor="t"/>
          <a:lstStyle/>
          <a:p>
            <a:pPr marL="0" indent="0" algn="l">
              <a:spcAft>
                <a:spcPts val="100"/>
              </a:spcAft>
              <a:buNone/>
            </a:pPr>
            <a:r>
              <a:rPr lang="en-US" sz="1500" b="1" dirty="0">
                <a:solidFill>
                  <a:schemeClr val="accent1"/>
                </a:solidFill>
              </a:rPr>
              <a:t>TypeScript</a:t>
            </a:r>
            <a:endParaRPr lang="en-US" sz="1500" dirty="0"/>
          </a:p>
          <a:p>
            <a:pPr marL="0" indent="0" algn="l">
              <a:buNone/>
            </a:pPr>
            <a:r>
              <a:rPr lang="en-US" sz="1300" dirty="0">
                <a:solidFill>
                  <a:schemeClr val="tx1"/>
                </a:solidFill>
              </a:rPr>
              <a:t>Adds static type checking to JavaScript.</a:t>
            </a:r>
            <a:endParaRPr lang="en-US" sz="1500" dirty="0"/>
          </a:p>
        </p:txBody>
      </p:sp>
      <p:sp>
        <p:nvSpPr>
          <p:cNvPr id="9" name="Frontend item Vite"/>
          <p:cNvSpPr txBox="1"/>
          <p:nvPr/>
        </p:nvSpPr>
        <p:spPr>
          <a:xfrm>
            <a:off x="713232" y="2587752"/>
            <a:ext cx="1783080" cy="749808"/>
          </a:xfrm>
          <a:prstGeom prst="rect">
            <a:avLst/>
          </a:prstGeom>
          <a:noFill/>
          <a:ln/>
        </p:spPr>
        <p:txBody>
          <a:bodyPr wrap="square" lIns="0" tIns="0" rIns="0" bIns="0" rtlCol="0" anchor="t"/>
          <a:lstStyle/>
          <a:p>
            <a:pPr marL="0" indent="0" algn="l">
              <a:spcAft>
                <a:spcPts val="100"/>
              </a:spcAft>
              <a:buNone/>
            </a:pPr>
            <a:r>
              <a:rPr lang="en-US" sz="1500" b="1" dirty="0">
                <a:solidFill>
                  <a:schemeClr val="accent1"/>
                </a:solidFill>
              </a:rPr>
              <a:t>Vite</a:t>
            </a:r>
            <a:endParaRPr lang="en-US" sz="1500" dirty="0"/>
          </a:p>
          <a:p>
            <a:pPr marL="0" indent="0" algn="l">
              <a:buNone/>
            </a:pPr>
            <a:r>
              <a:rPr lang="en-US" sz="1300" dirty="0">
                <a:solidFill>
                  <a:schemeClr val="tx1"/>
                </a:solidFill>
              </a:rPr>
              <a:t>Frontend development and build tooling.</a:t>
            </a:r>
            <a:endParaRPr lang="en-US" sz="1500" dirty="0"/>
          </a:p>
        </p:txBody>
      </p:sp>
      <p:sp>
        <p:nvSpPr>
          <p:cNvPr id="10" name="Frontend item Tailwind CSS"/>
          <p:cNvSpPr txBox="1"/>
          <p:nvPr/>
        </p:nvSpPr>
        <p:spPr>
          <a:xfrm>
            <a:off x="2587752" y="2587752"/>
            <a:ext cx="1783080" cy="749808"/>
          </a:xfrm>
          <a:prstGeom prst="rect">
            <a:avLst/>
          </a:prstGeom>
          <a:noFill/>
          <a:ln/>
        </p:spPr>
        <p:txBody>
          <a:bodyPr wrap="square" lIns="0" tIns="0" rIns="0" bIns="0" rtlCol="0" anchor="t"/>
          <a:lstStyle/>
          <a:p>
            <a:pPr marL="0" indent="0" algn="l">
              <a:spcAft>
                <a:spcPts val="100"/>
              </a:spcAft>
              <a:buNone/>
            </a:pPr>
            <a:r>
              <a:rPr lang="en-US" sz="1500" b="1" dirty="0">
                <a:solidFill>
                  <a:schemeClr val="accent1"/>
                </a:solidFill>
              </a:rPr>
              <a:t>Tailwind CSS</a:t>
            </a:r>
            <a:endParaRPr lang="en-US" sz="1500" dirty="0"/>
          </a:p>
          <a:p>
            <a:pPr marL="0" indent="0" algn="l">
              <a:buNone/>
            </a:pPr>
            <a:r>
              <a:rPr lang="en-US" sz="1300" dirty="0">
                <a:solidFill>
                  <a:schemeClr val="tx1"/>
                </a:solidFill>
              </a:rPr>
              <a:t>Supports utility-based interface styling.</a:t>
            </a:r>
            <a:endParaRPr lang="en-US" sz="1500" dirty="0"/>
          </a:p>
        </p:txBody>
      </p:sp>
      <p:sp>
        <p:nvSpPr>
          <p:cNvPr id="11" name="Backend card"/>
          <p:cNvSpPr/>
          <p:nvPr/>
        </p:nvSpPr>
        <p:spPr>
          <a:xfrm>
            <a:off x="4663440" y="1143000"/>
            <a:ext cx="3931920" cy="2286000"/>
          </a:xfrm>
          <a:prstGeom prst="roundRect">
            <a:avLst>
              <a:gd name="adj" fmla="val 4800"/>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12" name="Backend circle"/>
          <p:cNvSpPr/>
          <p:nvPr/>
        </p:nvSpPr>
        <p:spPr>
          <a:xfrm>
            <a:off x="4828032" y="1307592"/>
            <a:ext cx="384048" cy="384048"/>
          </a:xfrm>
          <a:prstGeom prst="ellipse">
            <a:avLst/>
          </a:prstGeom>
          <a:solidFill>
            <a:schemeClr val="accent1"/>
          </a:solidFill>
          <a:ln/>
        </p:spPr>
      </p:sp>
      <p:pic>
        <p:nvPicPr>
          <p:cNvPr id="13" name="Backend icon" descr="Backend"/>
          <p:cNvPicPr>
            <a:picLocks noChangeAspect="1"/>
          </p:cNvPicPr>
          <p:nvPr/>
        </p:nvPicPr>
        <p:blipFill>
          <a:blip r:embed="rId4"/>
          <a:stretch>
            <a:fillRect/>
          </a:stretch>
        </p:blipFill>
        <p:spPr>
          <a:xfrm>
            <a:off x="4935565" y="1415125"/>
            <a:ext cx="168981" cy="168981"/>
          </a:xfrm>
          <a:prstGeom prst="rect">
            <a:avLst/>
          </a:prstGeom>
        </p:spPr>
      </p:pic>
      <p:sp>
        <p:nvSpPr>
          <p:cNvPr id="14" name="Backend header"/>
          <p:cNvSpPr txBox="1"/>
          <p:nvPr/>
        </p:nvSpPr>
        <p:spPr>
          <a:xfrm>
            <a:off x="5303520" y="1307592"/>
            <a:ext cx="3108960" cy="384048"/>
          </a:xfrm>
          <a:prstGeom prst="rect">
            <a:avLst/>
          </a:prstGeom>
          <a:noFill/>
          <a:ln/>
        </p:spPr>
        <p:txBody>
          <a:bodyPr wrap="square" lIns="0" tIns="0" rIns="0" bIns="0" rtlCol="0" anchor="ctr"/>
          <a:lstStyle/>
          <a:p>
            <a:pPr marL="0" indent="0" algn="l">
              <a:buNone/>
            </a:pPr>
            <a:r>
              <a:rPr lang="en-US" sz="1400" b="1" dirty="0">
                <a:solidFill>
                  <a:schemeClr val="tx2"/>
                </a:solidFill>
              </a:rPr>
              <a:t>BACKEND</a:t>
            </a:r>
            <a:endParaRPr lang="en-US" sz="1400" dirty="0"/>
          </a:p>
        </p:txBody>
      </p:sp>
      <p:sp>
        <p:nvSpPr>
          <p:cNvPr id="15" name="Backend item Node.js"/>
          <p:cNvSpPr txBox="1"/>
          <p:nvPr/>
        </p:nvSpPr>
        <p:spPr>
          <a:xfrm>
            <a:off x="4846320" y="1828800"/>
            <a:ext cx="3611880" cy="457200"/>
          </a:xfrm>
          <a:prstGeom prst="rect">
            <a:avLst/>
          </a:prstGeom>
          <a:noFill/>
          <a:ln/>
        </p:spPr>
        <p:txBody>
          <a:bodyPr wrap="square" lIns="0" tIns="0" rIns="0" bIns="0" rtlCol="0" anchor="ctr"/>
          <a:lstStyle/>
          <a:p>
            <a:pPr marL="0" indent="0" algn="l">
              <a:buNone/>
            </a:pPr>
            <a:r>
              <a:rPr lang="en-US" sz="1300" b="1" dirty="0">
                <a:solidFill>
                  <a:schemeClr val="accent1"/>
                </a:solidFill>
              </a:rPr>
              <a:t>Node.js</a:t>
            </a:r>
            <a:r>
              <a:rPr lang="en-US" sz="1300" dirty="0">
                <a:solidFill>
                  <a:schemeClr val="tx1"/>
                </a:solidFill>
              </a:rPr>
              <a:t>  Runs the backend JavaScript application.</a:t>
            </a:r>
            <a:endParaRPr lang="en-US" sz="1300" dirty="0"/>
          </a:p>
        </p:txBody>
      </p:sp>
      <p:sp>
        <p:nvSpPr>
          <p:cNvPr id="16" name="Backend item Express.js"/>
          <p:cNvSpPr txBox="1"/>
          <p:nvPr/>
        </p:nvSpPr>
        <p:spPr>
          <a:xfrm>
            <a:off x="4846320" y="2359152"/>
            <a:ext cx="3611880" cy="457200"/>
          </a:xfrm>
          <a:prstGeom prst="rect">
            <a:avLst/>
          </a:prstGeom>
          <a:noFill/>
          <a:ln/>
        </p:spPr>
        <p:txBody>
          <a:bodyPr wrap="square" lIns="0" tIns="0" rIns="0" bIns="0" rtlCol="0" anchor="ctr"/>
          <a:lstStyle/>
          <a:p>
            <a:pPr marL="0" indent="0" algn="l">
              <a:buNone/>
            </a:pPr>
            <a:r>
              <a:rPr lang="en-US" sz="1300" b="1" dirty="0">
                <a:solidFill>
                  <a:schemeClr val="accent1"/>
                </a:solidFill>
              </a:rPr>
              <a:t>Express.js</a:t>
            </a:r>
            <a:r>
              <a:rPr lang="en-US" sz="1300" dirty="0">
                <a:solidFill>
                  <a:schemeClr val="tx1"/>
                </a:solidFill>
              </a:rPr>
              <a:t>  Handles API routes and HTTP requests.</a:t>
            </a:r>
            <a:endParaRPr lang="en-US" sz="1300" dirty="0"/>
          </a:p>
        </p:txBody>
      </p:sp>
      <p:sp>
        <p:nvSpPr>
          <p:cNvPr id="17" name="Backend item Zod"/>
          <p:cNvSpPr txBox="1"/>
          <p:nvPr/>
        </p:nvSpPr>
        <p:spPr>
          <a:xfrm>
            <a:off x="4846320" y="2889504"/>
            <a:ext cx="3611880" cy="457200"/>
          </a:xfrm>
          <a:prstGeom prst="rect">
            <a:avLst/>
          </a:prstGeom>
          <a:noFill/>
          <a:ln/>
        </p:spPr>
        <p:txBody>
          <a:bodyPr wrap="square" lIns="0" tIns="0" rIns="0" bIns="0" rtlCol="0" anchor="ctr"/>
          <a:lstStyle/>
          <a:p>
            <a:pPr marL="0" indent="0" algn="l">
              <a:buNone/>
            </a:pPr>
            <a:r>
              <a:rPr lang="en-US" sz="1300" b="1" dirty="0">
                <a:solidFill>
                  <a:schemeClr val="accent1"/>
                </a:solidFill>
              </a:rPr>
              <a:t>Zod</a:t>
            </a:r>
            <a:r>
              <a:rPr lang="en-US" sz="1300" dirty="0">
                <a:solidFill>
                  <a:schemeClr val="tx1"/>
                </a:solidFill>
              </a:rPr>
              <a:t>  Validates data against defined schemas.</a:t>
            </a:r>
            <a:endParaRPr lang="en-US" sz="1300" dirty="0"/>
          </a:p>
        </p:txBody>
      </p:sp>
      <p:sp>
        <p:nvSpPr>
          <p:cNvPr id="18" name="Data storage card"/>
          <p:cNvSpPr/>
          <p:nvPr/>
        </p:nvSpPr>
        <p:spPr>
          <a:xfrm>
            <a:off x="548640" y="3566160"/>
            <a:ext cx="8046720" cy="1051560"/>
          </a:xfrm>
          <a:prstGeom prst="roundRect">
            <a:avLst>
              <a:gd name="adj" fmla="val 10435"/>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19" name="Data storage circle"/>
          <p:cNvSpPr/>
          <p:nvPr/>
        </p:nvSpPr>
        <p:spPr>
          <a:xfrm>
            <a:off x="713232" y="3639312"/>
            <a:ext cx="365760" cy="365760"/>
          </a:xfrm>
          <a:prstGeom prst="ellipse">
            <a:avLst/>
          </a:prstGeom>
          <a:solidFill>
            <a:schemeClr val="accent1"/>
          </a:solidFill>
          <a:ln/>
        </p:spPr>
      </p:sp>
      <p:pic>
        <p:nvPicPr>
          <p:cNvPr id="20" name="Data storage icon" descr="Data storage"/>
          <p:cNvPicPr>
            <a:picLocks noChangeAspect="1"/>
          </p:cNvPicPr>
          <p:nvPr/>
        </p:nvPicPr>
        <p:blipFill>
          <a:blip r:embed="rId5"/>
          <a:stretch>
            <a:fillRect/>
          </a:stretch>
        </p:blipFill>
        <p:spPr>
          <a:xfrm>
            <a:off x="815645" y="3741725"/>
            <a:ext cx="160934" cy="160934"/>
          </a:xfrm>
          <a:prstGeom prst="rect">
            <a:avLst/>
          </a:prstGeom>
        </p:spPr>
      </p:pic>
      <p:sp>
        <p:nvSpPr>
          <p:cNvPr id="21" name="Storage header"/>
          <p:cNvSpPr txBox="1"/>
          <p:nvPr/>
        </p:nvSpPr>
        <p:spPr>
          <a:xfrm>
            <a:off x="1188720" y="3639312"/>
            <a:ext cx="3108960" cy="365760"/>
          </a:xfrm>
          <a:prstGeom prst="rect">
            <a:avLst/>
          </a:prstGeom>
          <a:noFill/>
          <a:ln/>
        </p:spPr>
        <p:txBody>
          <a:bodyPr wrap="square" lIns="0" tIns="0" rIns="0" bIns="0" rtlCol="0" anchor="ctr"/>
          <a:lstStyle/>
          <a:p>
            <a:pPr marL="0" indent="0" algn="l">
              <a:buNone/>
            </a:pPr>
            <a:r>
              <a:rPr lang="en-US" sz="1400" b="1" dirty="0">
                <a:solidFill>
                  <a:schemeClr val="tx2"/>
                </a:solidFill>
              </a:rPr>
              <a:t>DATA STORAGE</a:t>
            </a:r>
            <a:endParaRPr lang="en-US" sz="1400" dirty="0"/>
          </a:p>
        </p:txBody>
      </p:sp>
      <p:sp>
        <p:nvSpPr>
          <p:cNvPr id="22" name="Local JSON item"/>
          <p:cNvSpPr txBox="1"/>
          <p:nvPr/>
        </p:nvSpPr>
        <p:spPr>
          <a:xfrm>
            <a:off x="731520" y="4069080"/>
            <a:ext cx="2377440" cy="502920"/>
          </a:xfrm>
          <a:prstGeom prst="rect">
            <a:avLst/>
          </a:prstGeom>
          <a:noFill/>
          <a:ln/>
        </p:spPr>
        <p:txBody>
          <a:bodyPr wrap="square" lIns="0" tIns="0" rIns="0" bIns="0" rtlCol="0" anchor="t"/>
          <a:lstStyle/>
          <a:p>
            <a:pPr marL="0" indent="0" algn="l">
              <a:spcAft>
                <a:spcPts val="100"/>
              </a:spcAft>
              <a:buNone/>
            </a:pPr>
            <a:r>
              <a:rPr lang="en-US" sz="1500" b="1" dirty="0">
                <a:solidFill>
                  <a:schemeClr val="accent1"/>
                </a:solidFill>
              </a:rPr>
              <a:t>Local JSON Storage</a:t>
            </a:r>
            <a:endParaRPr lang="en-US" sz="1500" dirty="0"/>
          </a:p>
          <a:p>
            <a:pPr marL="0" indent="0" algn="l">
              <a:buNone/>
            </a:pPr>
            <a:r>
              <a:rPr lang="en-US" sz="1200" dirty="0">
                <a:solidFill>
                  <a:schemeClr val="tx1"/>
                </a:solidFill>
              </a:rPr>
              <a:t>Stores app data in a JSON file.</a:t>
            </a:r>
            <a:endParaRPr lang="en-US" sz="1500" dirty="0"/>
          </a:p>
        </p:txBody>
      </p:sp>
      <p:sp>
        <p:nvSpPr>
          <p:cNvPr id="23" name="Current chip"/>
          <p:cNvSpPr/>
          <p:nvPr/>
        </p:nvSpPr>
        <p:spPr>
          <a:xfrm>
            <a:off x="3108960" y="4114800"/>
            <a:ext cx="960120" cy="256032"/>
          </a:xfrm>
          <a:prstGeom prst="roundRect">
            <a:avLst>
              <a:gd name="adj" fmla="val 50000"/>
            </a:avLst>
          </a:prstGeom>
          <a:solidFill>
            <a:schemeClr val="accent1"/>
          </a:solidFill>
          <a:ln/>
        </p:spPr>
      </p:sp>
      <p:sp>
        <p:nvSpPr>
          <p:cNvPr id="24" name="Current chip text"/>
          <p:cNvSpPr txBox="1"/>
          <p:nvPr/>
        </p:nvSpPr>
        <p:spPr>
          <a:xfrm>
            <a:off x="3108960" y="4114800"/>
            <a:ext cx="960120" cy="256032"/>
          </a:xfrm>
          <a:prstGeom prst="rect">
            <a:avLst/>
          </a:prstGeom>
          <a:noFill/>
          <a:ln/>
        </p:spPr>
        <p:txBody>
          <a:bodyPr wrap="square" lIns="0" tIns="0" rIns="0" bIns="0" rtlCol="0" anchor="ctr"/>
          <a:lstStyle/>
          <a:p>
            <a:pPr marL="0" indent="0" algn="ctr">
              <a:buNone/>
            </a:pPr>
            <a:r>
              <a:rPr lang="en-US" sz="1000" b="1" dirty="0">
                <a:solidFill>
                  <a:schemeClr val="bg1"/>
                </a:solidFill>
              </a:rPr>
              <a:t>CURRENT</a:t>
            </a:r>
            <a:endParaRPr lang="en-US" sz="1000" dirty="0"/>
          </a:p>
        </p:txBody>
      </p:sp>
      <p:sp>
        <p:nvSpPr>
          <p:cNvPr id="25" name="Supabase item"/>
          <p:cNvSpPr txBox="1"/>
          <p:nvPr/>
        </p:nvSpPr>
        <p:spPr>
          <a:xfrm>
            <a:off x="4663440" y="4069080"/>
            <a:ext cx="2514600" cy="502920"/>
          </a:xfrm>
          <a:prstGeom prst="rect">
            <a:avLst/>
          </a:prstGeom>
          <a:noFill/>
          <a:ln/>
        </p:spPr>
        <p:txBody>
          <a:bodyPr wrap="square" lIns="0" tIns="0" rIns="0" bIns="0" rtlCol="0" anchor="t"/>
          <a:lstStyle/>
          <a:p>
            <a:pPr marL="0" indent="0" algn="l">
              <a:spcAft>
                <a:spcPts val="100"/>
              </a:spcAft>
              <a:buNone/>
            </a:pPr>
            <a:r>
              <a:rPr lang="en-US" sz="1500" b="1" dirty="0">
                <a:solidFill>
                  <a:schemeClr val="tx2"/>
                </a:solidFill>
              </a:rPr>
              <a:t>Supabase PostgreSQL</a:t>
            </a:r>
            <a:endParaRPr lang="en-US" sz="1500" dirty="0"/>
          </a:p>
          <a:p>
            <a:pPr marL="0" indent="0" algn="l">
              <a:buNone/>
            </a:pPr>
            <a:r>
              <a:rPr lang="en-US" sz="1200" dirty="0">
                <a:solidFill>
                  <a:schemeClr val="tx1"/>
                </a:solidFill>
              </a:rPr>
              <a:t>Cloud support exists in the codebase.</a:t>
            </a:r>
            <a:endParaRPr lang="en-US" sz="1500" dirty="0"/>
          </a:p>
        </p:txBody>
      </p:sp>
      <p:sp>
        <p:nvSpPr>
          <p:cNvPr id="26" name="Not connected chip"/>
          <p:cNvSpPr/>
          <p:nvPr/>
        </p:nvSpPr>
        <p:spPr>
          <a:xfrm>
            <a:off x="7269480" y="4114800"/>
            <a:ext cx="1188720" cy="256032"/>
          </a:xfrm>
          <a:prstGeom prst="roundRect">
            <a:avLst>
              <a:gd name="adj" fmla="val 50000"/>
            </a:avLst>
          </a:prstGeom>
          <a:solidFill>
            <a:schemeClr val="accent6"/>
          </a:solidFill>
          <a:ln w="9525">
            <a:solidFill>
              <a:schemeClr val="accent5"/>
            </a:solidFill>
            <a:prstDash val="solid"/>
          </a:ln>
        </p:spPr>
      </p:sp>
      <p:sp>
        <p:nvSpPr>
          <p:cNvPr id="27" name="Not connected chip text"/>
          <p:cNvSpPr txBox="1"/>
          <p:nvPr/>
        </p:nvSpPr>
        <p:spPr>
          <a:xfrm>
            <a:off x="7269480" y="4114800"/>
            <a:ext cx="1188720" cy="256032"/>
          </a:xfrm>
          <a:prstGeom prst="rect">
            <a:avLst/>
          </a:prstGeom>
          <a:noFill/>
          <a:ln/>
        </p:spPr>
        <p:txBody>
          <a:bodyPr wrap="square" lIns="0" tIns="0" rIns="0" bIns="0" rtlCol="0" anchor="ctr"/>
          <a:lstStyle/>
          <a:p>
            <a:pPr marL="0" indent="0" algn="ctr">
              <a:buNone/>
            </a:pPr>
            <a:r>
              <a:rPr lang="en-US" sz="1000" b="1" dirty="0">
                <a:solidFill>
                  <a:schemeClr val="accent5"/>
                </a:solidFill>
              </a:rPr>
              <a:t>NOT CONNECTED</a:t>
            </a:r>
            <a:endParaRPr lang="en-US" sz="1000" dirty="0"/>
          </a:p>
        </p:txBody>
      </p:sp>
      <p:sp>
        <p:nvSpPr>
          <p:cNvPr id="28" name="Slide Number Placeholder 0"/>
          <p:cNvSpPr>
            <a:spLocks noGrp="1"/>
          </p:cNvSpPr>
          <p:nvPr>
            <p:ph type="sldNum" sz="quarter" idx="4294967295"/>
          </p:nvPr>
        </p:nvSpPr>
        <p:spPr>
          <a:xfrm>
            <a:off x="8046720" y="4727448"/>
            <a:ext cx="548640" cy="246888"/>
          </a:xfrm>
          <a:prstGeom prst="rect">
            <a:avLst/>
          </a:prstGeom>
          <a:extLst>
            <a:ext uri="{C572A759-6A51-4108-AA02-DFA0A04FC94B}">
              <ma14:wrappingTextBoxFlag xmlns:ma14="http://schemas.microsoft.com/office/mac/drawingml/2011/main" xmlns="" val="0"/>
            </a:ext>
          </a:extLst>
        </p:spPr>
        <p:txBody>
          <a:bodyPr/>
          <a:lstStyle>
            <a:lvl1pPr>
              <a:defRPr sz="1000">
                <a:solidFill>
                  <a:srgbClr val="123D2D"/>
                </a:solidFill>
                <a:latin typeface="Calibri"/>
                <a:ea typeface="Calibri"/>
                <a:cs typeface="Calibri"/>
              </a:defRPr>
            </a:lvl1pPr>
          </a:lstStyle>
          <a:p>
            <a:pPr algn="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200" b="1" dirty="0">
                <a:solidFill>
                  <a:schemeClr val="tx2"/>
                </a:solidFill>
              </a:rPr>
              <a:t>System Architecture</a:t>
            </a:r>
            <a:endParaRPr lang="en-US" sz="3200" dirty="0"/>
          </a:p>
        </p:txBody>
      </p:sp>
      <p:sp>
        <p:nvSpPr>
          <p:cNvPr id="27" name="Layers card"/>
          <p:cNvSpPr/>
          <p:nvPr/>
        </p:nvSpPr>
        <p:spPr>
          <a:xfrm>
            <a:off x="548640" y="2697480"/>
            <a:ext cx="8046720" cy="1920240"/>
          </a:xfrm>
          <a:prstGeom prst="roundRect">
            <a:avLst>
              <a:gd name="adj" fmla="val 5714"/>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28" name="Layer badge 1"/>
          <p:cNvSpPr/>
          <p:nvPr/>
        </p:nvSpPr>
        <p:spPr>
          <a:xfrm>
            <a:off x="749808" y="2825496"/>
            <a:ext cx="256032" cy="256032"/>
          </a:xfrm>
          <a:prstGeom prst="ellipse">
            <a:avLst/>
          </a:prstGeom>
          <a:solidFill>
            <a:schemeClr val="accent1"/>
          </a:solidFill>
          <a:ln/>
        </p:spPr>
      </p:sp>
      <p:sp>
        <p:nvSpPr>
          <p:cNvPr id="29" name="Layer badge text 1"/>
          <p:cNvSpPr txBox="1"/>
          <p:nvPr/>
        </p:nvSpPr>
        <p:spPr>
          <a:xfrm>
            <a:off x="749808" y="2825496"/>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30" name="Layer name 1"/>
          <p:cNvSpPr txBox="1"/>
          <p:nvPr/>
        </p:nvSpPr>
        <p:spPr>
          <a:xfrm>
            <a:off x="1143000" y="2770632"/>
            <a:ext cx="2514600" cy="365760"/>
          </a:xfrm>
          <a:prstGeom prst="rect">
            <a:avLst/>
          </a:prstGeom>
          <a:noFill/>
          <a:ln/>
        </p:spPr>
        <p:txBody>
          <a:bodyPr wrap="square" lIns="0" tIns="0" rIns="0" bIns="0" rtlCol="0" anchor="ctr"/>
          <a:lstStyle/>
          <a:p>
            <a:pPr marL="0" indent="0" algn="l">
              <a:buNone/>
            </a:pPr>
            <a:r>
              <a:rPr lang="en-US" sz="1300" b="1" dirty="0">
                <a:solidFill>
                  <a:schemeClr val="tx2"/>
                </a:solidFill>
              </a:rPr>
              <a:t>Presentation Layer</a:t>
            </a:r>
            <a:endParaRPr lang="en-US" sz="1300" dirty="0"/>
          </a:p>
        </p:txBody>
      </p:sp>
      <p:sp>
        <p:nvSpPr>
          <p:cNvPr id="31" name="Layer desc 1"/>
          <p:cNvSpPr txBox="1"/>
          <p:nvPr/>
        </p:nvSpPr>
        <p:spPr>
          <a:xfrm>
            <a:off x="3657600" y="2770632"/>
            <a:ext cx="4800600" cy="365760"/>
          </a:xfrm>
          <a:prstGeom prst="rect">
            <a:avLst/>
          </a:prstGeom>
          <a:noFill/>
          <a:ln/>
        </p:spPr>
        <p:txBody>
          <a:bodyPr wrap="square" lIns="0" tIns="0" rIns="0" bIns="0" rtlCol="0" anchor="ctr"/>
          <a:lstStyle/>
          <a:p>
            <a:pPr marL="0" indent="0" algn="l">
              <a:buNone/>
            </a:pPr>
            <a:r>
              <a:rPr lang="en-US" sz="1300" dirty="0">
                <a:solidFill>
                  <a:schemeClr val="tx1"/>
                </a:solidFill>
              </a:rPr>
              <a:t>Displays the user interface and project information.</a:t>
            </a:r>
            <a:endParaRPr lang="en-US" sz="1300" dirty="0"/>
          </a:p>
        </p:txBody>
      </p:sp>
      <p:sp>
        <p:nvSpPr>
          <p:cNvPr id="32" name="Layer badge 2"/>
          <p:cNvSpPr/>
          <p:nvPr/>
        </p:nvSpPr>
        <p:spPr>
          <a:xfrm>
            <a:off x="749808" y="3191256"/>
            <a:ext cx="256032" cy="256032"/>
          </a:xfrm>
          <a:prstGeom prst="ellipse">
            <a:avLst/>
          </a:prstGeom>
          <a:solidFill>
            <a:schemeClr val="accent1"/>
          </a:solidFill>
          <a:ln/>
        </p:spPr>
      </p:sp>
      <p:sp>
        <p:nvSpPr>
          <p:cNvPr id="33" name="Layer badge text 2"/>
          <p:cNvSpPr txBox="1"/>
          <p:nvPr/>
        </p:nvSpPr>
        <p:spPr>
          <a:xfrm>
            <a:off x="749808" y="3191256"/>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34" name="Layer name 2"/>
          <p:cNvSpPr txBox="1"/>
          <p:nvPr/>
        </p:nvSpPr>
        <p:spPr>
          <a:xfrm>
            <a:off x="1143000" y="3136392"/>
            <a:ext cx="2514600" cy="365760"/>
          </a:xfrm>
          <a:prstGeom prst="rect">
            <a:avLst/>
          </a:prstGeom>
          <a:noFill/>
          <a:ln/>
        </p:spPr>
        <p:txBody>
          <a:bodyPr wrap="square" lIns="0" tIns="0" rIns="0" bIns="0" rtlCol="0" anchor="ctr"/>
          <a:lstStyle/>
          <a:p>
            <a:pPr marL="0" indent="0" algn="l">
              <a:buNone/>
            </a:pPr>
            <a:r>
              <a:rPr lang="en-US" sz="1300" b="1" dirty="0">
                <a:solidFill>
                  <a:schemeClr val="tx2"/>
                </a:solidFill>
              </a:rPr>
              <a:t>API Layer</a:t>
            </a:r>
            <a:endParaRPr lang="en-US" sz="1300" dirty="0"/>
          </a:p>
        </p:txBody>
      </p:sp>
      <p:sp>
        <p:nvSpPr>
          <p:cNvPr id="35" name="Layer desc 2"/>
          <p:cNvSpPr txBox="1"/>
          <p:nvPr/>
        </p:nvSpPr>
        <p:spPr>
          <a:xfrm>
            <a:off x="3657600" y="3136392"/>
            <a:ext cx="4800600" cy="365760"/>
          </a:xfrm>
          <a:prstGeom prst="rect">
            <a:avLst/>
          </a:prstGeom>
          <a:noFill/>
          <a:ln/>
        </p:spPr>
        <p:txBody>
          <a:bodyPr wrap="square" lIns="0" tIns="0" rIns="0" bIns="0" rtlCol="0" anchor="ctr"/>
          <a:lstStyle/>
          <a:p>
            <a:pPr marL="0" indent="0" algn="l">
              <a:buNone/>
            </a:pPr>
            <a:r>
              <a:rPr lang="en-US" sz="1300" dirty="0">
                <a:solidFill>
                  <a:schemeClr val="tx1"/>
                </a:solidFill>
              </a:rPr>
              <a:t>Carries requests and responses between layers.</a:t>
            </a:r>
            <a:endParaRPr lang="en-US" sz="1300" dirty="0"/>
          </a:p>
        </p:txBody>
      </p:sp>
      <p:sp>
        <p:nvSpPr>
          <p:cNvPr id="36" name="Layer badge 3"/>
          <p:cNvSpPr/>
          <p:nvPr/>
        </p:nvSpPr>
        <p:spPr>
          <a:xfrm>
            <a:off x="749808" y="3557016"/>
            <a:ext cx="256032" cy="256032"/>
          </a:xfrm>
          <a:prstGeom prst="ellipse">
            <a:avLst/>
          </a:prstGeom>
          <a:solidFill>
            <a:schemeClr val="accent1"/>
          </a:solidFill>
          <a:ln/>
        </p:spPr>
      </p:sp>
      <p:sp>
        <p:nvSpPr>
          <p:cNvPr id="37" name="Layer badge text 3"/>
          <p:cNvSpPr txBox="1"/>
          <p:nvPr/>
        </p:nvSpPr>
        <p:spPr>
          <a:xfrm>
            <a:off x="749808" y="3557016"/>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38" name="Layer name 3"/>
          <p:cNvSpPr txBox="1"/>
          <p:nvPr/>
        </p:nvSpPr>
        <p:spPr>
          <a:xfrm>
            <a:off x="1143000" y="3502152"/>
            <a:ext cx="2514600" cy="365760"/>
          </a:xfrm>
          <a:prstGeom prst="rect">
            <a:avLst/>
          </a:prstGeom>
          <a:noFill/>
          <a:ln/>
        </p:spPr>
        <p:txBody>
          <a:bodyPr wrap="square" lIns="0" tIns="0" rIns="0" bIns="0" rtlCol="0" anchor="ctr"/>
          <a:lstStyle/>
          <a:p>
            <a:pPr marL="0" indent="0" algn="l">
              <a:buNone/>
            </a:pPr>
            <a:r>
              <a:rPr lang="en-US" sz="1300" b="1" dirty="0">
                <a:solidFill>
                  <a:schemeClr val="tx2"/>
                </a:solidFill>
              </a:rPr>
              <a:t>Application Layer</a:t>
            </a:r>
            <a:endParaRPr lang="en-US" sz="1300" dirty="0"/>
          </a:p>
        </p:txBody>
      </p:sp>
      <p:sp>
        <p:nvSpPr>
          <p:cNvPr id="39" name="Layer desc 3"/>
          <p:cNvSpPr txBox="1"/>
          <p:nvPr/>
        </p:nvSpPr>
        <p:spPr>
          <a:xfrm>
            <a:off x="3657600" y="3502152"/>
            <a:ext cx="4800600" cy="365760"/>
          </a:xfrm>
          <a:prstGeom prst="rect">
            <a:avLst/>
          </a:prstGeom>
          <a:noFill/>
          <a:ln/>
        </p:spPr>
        <p:txBody>
          <a:bodyPr wrap="square" lIns="0" tIns="0" rIns="0" bIns="0" rtlCol="0" anchor="ctr"/>
          <a:lstStyle/>
          <a:p>
            <a:pPr marL="0" indent="0" algn="l">
              <a:buNone/>
            </a:pPr>
            <a:r>
              <a:rPr lang="en-US" sz="1300" dirty="0">
                <a:solidFill>
                  <a:schemeClr val="tx1"/>
                </a:solidFill>
              </a:rPr>
              <a:t>Business logic, such as creating tasks and managing sprints.</a:t>
            </a:r>
            <a:endParaRPr lang="en-US" sz="1300" dirty="0"/>
          </a:p>
        </p:txBody>
      </p:sp>
      <p:sp>
        <p:nvSpPr>
          <p:cNvPr id="40" name="Layer badge 4"/>
          <p:cNvSpPr/>
          <p:nvPr/>
        </p:nvSpPr>
        <p:spPr>
          <a:xfrm>
            <a:off x="749808" y="3922776"/>
            <a:ext cx="256032" cy="256032"/>
          </a:xfrm>
          <a:prstGeom prst="ellipse">
            <a:avLst/>
          </a:prstGeom>
          <a:solidFill>
            <a:schemeClr val="accent1"/>
          </a:solidFill>
          <a:ln/>
        </p:spPr>
      </p:sp>
      <p:sp>
        <p:nvSpPr>
          <p:cNvPr id="41" name="Layer badge text 4"/>
          <p:cNvSpPr txBox="1"/>
          <p:nvPr/>
        </p:nvSpPr>
        <p:spPr>
          <a:xfrm>
            <a:off x="749808" y="3922776"/>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4</a:t>
            </a:r>
            <a:endParaRPr lang="en-US" sz="1100" dirty="0"/>
          </a:p>
        </p:txBody>
      </p:sp>
      <p:sp>
        <p:nvSpPr>
          <p:cNvPr id="42" name="Layer name 4"/>
          <p:cNvSpPr txBox="1"/>
          <p:nvPr/>
        </p:nvSpPr>
        <p:spPr>
          <a:xfrm>
            <a:off x="1143000" y="3867912"/>
            <a:ext cx="2514600" cy="365760"/>
          </a:xfrm>
          <a:prstGeom prst="rect">
            <a:avLst/>
          </a:prstGeom>
          <a:noFill/>
          <a:ln/>
        </p:spPr>
        <p:txBody>
          <a:bodyPr wrap="square" lIns="0" tIns="0" rIns="0" bIns="0" rtlCol="0" anchor="ctr"/>
          <a:lstStyle/>
          <a:p>
            <a:pPr marL="0" indent="0" algn="l">
              <a:buNone/>
            </a:pPr>
            <a:r>
              <a:rPr lang="en-US" sz="1300" b="1" dirty="0">
                <a:solidFill>
                  <a:schemeClr val="tx2"/>
                </a:solidFill>
              </a:rPr>
              <a:t>Authentication &amp; Authorization</a:t>
            </a:r>
            <a:endParaRPr lang="en-US" sz="1300" dirty="0"/>
          </a:p>
        </p:txBody>
      </p:sp>
      <p:sp>
        <p:nvSpPr>
          <p:cNvPr id="43" name="Layer desc 4"/>
          <p:cNvSpPr txBox="1"/>
          <p:nvPr/>
        </p:nvSpPr>
        <p:spPr>
          <a:xfrm>
            <a:off x="3657600" y="3867912"/>
            <a:ext cx="4800600" cy="365760"/>
          </a:xfrm>
          <a:prstGeom prst="rect">
            <a:avLst/>
          </a:prstGeom>
          <a:noFill/>
          <a:ln/>
        </p:spPr>
        <p:txBody>
          <a:bodyPr wrap="square" lIns="0" tIns="0" rIns="0" bIns="0" rtlCol="0" anchor="ctr"/>
          <a:lstStyle/>
          <a:p>
            <a:pPr marL="0" indent="0" algn="l">
              <a:buNone/>
            </a:pPr>
            <a:r>
              <a:rPr lang="en-US" sz="1300" dirty="0">
                <a:solidFill>
                  <a:schemeClr val="tx1"/>
                </a:solidFill>
              </a:rPr>
              <a:t>Handles user identity and access permissions.</a:t>
            </a:r>
            <a:endParaRPr lang="en-US" sz="1300" dirty="0"/>
          </a:p>
        </p:txBody>
      </p:sp>
      <p:sp>
        <p:nvSpPr>
          <p:cNvPr id="44" name="Layer badge 5"/>
          <p:cNvSpPr/>
          <p:nvPr/>
        </p:nvSpPr>
        <p:spPr>
          <a:xfrm>
            <a:off x="749808" y="4288536"/>
            <a:ext cx="256032" cy="256032"/>
          </a:xfrm>
          <a:prstGeom prst="ellipse">
            <a:avLst/>
          </a:prstGeom>
          <a:solidFill>
            <a:schemeClr val="accent1"/>
          </a:solidFill>
          <a:ln/>
        </p:spPr>
      </p:sp>
      <p:sp>
        <p:nvSpPr>
          <p:cNvPr id="45" name="Layer badge text 5"/>
          <p:cNvSpPr txBox="1"/>
          <p:nvPr/>
        </p:nvSpPr>
        <p:spPr>
          <a:xfrm>
            <a:off x="749808" y="4288536"/>
            <a:ext cx="256032" cy="256032"/>
          </a:xfrm>
          <a:prstGeom prst="rect">
            <a:avLst/>
          </a:prstGeom>
          <a:noFill/>
          <a:ln/>
        </p:spPr>
        <p:txBody>
          <a:bodyPr wrap="square" lIns="0" tIns="0" rIns="0" bIns="0" rtlCol="0" anchor="ctr"/>
          <a:lstStyle/>
          <a:p>
            <a:pPr marL="0" indent="0" algn="ctr">
              <a:buNone/>
            </a:pPr>
            <a:r>
              <a:rPr lang="en-US" sz="1100" b="1" dirty="0">
                <a:solidFill>
                  <a:schemeClr val="bg1"/>
                </a:solidFill>
              </a:rPr>
              <a:t>5</a:t>
            </a:r>
            <a:endParaRPr lang="en-US" sz="1100" dirty="0"/>
          </a:p>
        </p:txBody>
      </p:sp>
      <p:sp>
        <p:nvSpPr>
          <p:cNvPr id="46" name="Layer name 5"/>
          <p:cNvSpPr txBox="1"/>
          <p:nvPr/>
        </p:nvSpPr>
        <p:spPr>
          <a:xfrm>
            <a:off x="1143000" y="4233672"/>
            <a:ext cx="2514600" cy="365760"/>
          </a:xfrm>
          <a:prstGeom prst="rect">
            <a:avLst/>
          </a:prstGeom>
          <a:noFill/>
          <a:ln/>
        </p:spPr>
        <p:txBody>
          <a:bodyPr wrap="square" lIns="0" tIns="0" rIns="0" bIns="0" rtlCol="0" anchor="ctr"/>
          <a:lstStyle/>
          <a:p>
            <a:pPr marL="0" indent="0" algn="l">
              <a:buNone/>
            </a:pPr>
            <a:r>
              <a:rPr lang="en-US" sz="1300" b="1" dirty="0">
                <a:solidFill>
                  <a:schemeClr val="tx2"/>
                </a:solidFill>
              </a:rPr>
              <a:t>Storage Layer</a:t>
            </a:r>
            <a:endParaRPr lang="en-US" sz="1300" dirty="0"/>
          </a:p>
        </p:txBody>
      </p:sp>
      <p:sp>
        <p:nvSpPr>
          <p:cNvPr id="47" name="Layer desc 5"/>
          <p:cNvSpPr txBox="1"/>
          <p:nvPr/>
        </p:nvSpPr>
        <p:spPr>
          <a:xfrm>
            <a:off x="3657600" y="4233672"/>
            <a:ext cx="4800600" cy="365760"/>
          </a:xfrm>
          <a:prstGeom prst="rect">
            <a:avLst/>
          </a:prstGeom>
          <a:noFill/>
          <a:ln/>
        </p:spPr>
        <p:txBody>
          <a:bodyPr wrap="square" lIns="0" tIns="0" rIns="0" bIns="0" rtlCol="0" anchor="ctr"/>
          <a:lstStyle/>
          <a:p>
            <a:pPr marL="0" indent="0" algn="l">
              <a:buNone/>
            </a:pPr>
            <a:r>
              <a:rPr lang="en-US" sz="1300" dirty="0">
                <a:solidFill>
                  <a:schemeClr val="tx1"/>
                </a:solidFill>
              </a:rPr>
              <a:t>Saves and retrieves data using local JSON storage.</a:t>
            </a:r>
            <a:endParaRPr lang="en-US" sz="1300" dirty="0"/>
          </a:p>
        </p:txBody>
      </p:sp>
      <p:sp>
        <p:nvSpPr>
          <p:cNvPr id="48" name="Slide Number Placeholder 0"/>
          <p:cNvSpPr>
            <a:spLocks noGrp="1"/>
          </p:cNvSpPr>
          <p:nvPr>
            <p:ph type="sldNum" sz="quarter" idx="4294967295"/>
          </p:nvPr>
        </p:nvSpPr>
        <p:spPr>
          <a:xfrm>
            <a:off x="8046720" y="4727448"/>
            <a:ext cx="548640" cy="246888"/>
          </a:xfrm>
          <a:prstGeom prst="rect">
            <a:avLst/>
          </a:prstGeom>
          <a:extLst>
            <a:ext uri="{C572A759-6A51-4108-AA02-DFA0A04FC94B}">
              <ma14:wrappingTextBoxFlag xmlns:ma14="http://schemas.microsoft.com/office/mac/drawingml/2011/main" xmlns="" val="0"/>
            </a:ext>
          </a:extLst>
        </p:spPr>
        <p:txBody>
          <a:bodyPr/>
          <a:lstStyle>
            <a:lvl1pPr>
              <a:defRPr sz="1000">
                <a:solidFill>
                  <a:srgbClr val="123D2D"/>
                </a:solidFill>
                <a:latin typeface="Calibri"/>
                <a:ea typeface="Calibri"/>
                <a:cs typeface="Calibri"/>
              </a:defRPr>
            </a:lvl1pPr>
          </a:lstStyle>
          <a:p>
            <a:pPr algn="r"/>
            <a:fld id="{F7021451-1387-4CA6-816F-3879F97B5CBC}" type="slidenum">
              <a:rPr lang="en-US" b="1"/>
              <a:t>8</a:t>
            </a:fld>
            <a:endParaRPr lang="en-US"/>
          </a:p>
        </p:txBody>
      </p:sp>
      <p:pic>
        <p:nvPicPr>
          <p:cNvPr id="52" name="Picture 51">
            <a:extLst>
              <a:ext uri="{FF2B5EF4-FFF2-40B4-BE49-F238E27FC236}">
                <a16:creationId xmlns:a16="http://schemas.microsoft.com/office/drawing/2014/main" id="{216F61C2-0B4A-9D66-3199-2091142199FC}"/>
              </a:ext>
            </a:extLst>
          </p:cNvPr>
          <p:cNvPicPr>
            <a:picLocks noChangeAspect="1"/>
          </p:cNvPicPr>
          <p:nvPr/>
        </p:nvPicPr>
        <p:blipFill>
          <a:blip r:embed="rId3"/>
          <a:srcRect t="35014" b="37482"/>
          <a:stretch>
            <a:fillRect/>
          </a:stretch>
        </p:blipFill>
        <p:spPr>
          <a:xfrm>
            <a:off x="401092" y="1078992"/>
            <a:ext cx="8101473" cy="12527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200" b="1" dirty="0">
                <a:solidFill>
                  <a:schemeClr val="tx2"/>
                </a:solidFill>
              </a:rPr>
              <a:t>Implementation, Results &amp; Future Scope</a:t>
            </a:r>
            <a:endParaRPr lang="en-US" sz="3200" dirty="0"/>
          </a:p>
        </p:txBody>
      </p:sp>
      <p:sp>
        <p:nvSpPr>
          <p:cNvPr id="3" name="Column card Implementation"/>
          <p:cNvSpPr/>
          <p:nvPr/>
        </p:nvSpPr>
        <p:spPr>
          <a:xfrm>
            <a:off x="548640" y="1188720"/>
            <a:ext cx="2560320" cy="3383280"/>
          </a:xfrm>
          <a:prstGeom prst="roundRect">
            <a:avLst>
              <a:gd name="adj" fmla="val 4286"/>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4" name="Implementation circle"/>
          <p:cNvSpPr/>
          <p:nvPr/>
        </p:nvSpPr>
        <p:spPr>
          <a:xfrm>
            <a:off x="713232" y="1325880"/>
            <a:ext cx="384048" cy="384048"/>
          </a:xfrm>
          <a:prstGeom prst="ellipse">
            <a:avLst/>
          </a:prstGeom>
          <a:solidFill>
            <a:schemeClr val="accent1"/>
          </a:solidFill>
          <a:ln/>
        </p:spPr>
      </p:sp>
      <p:pic>
        <p:nvPicPr>
          <p:cNvPr id="5" name="Implementation icon" descr="Implementation"/>
          <p:cNvPicPr>
            <a:picLocks noChangeAspect="1"/>
          </p:cNvPicPr>
          <p:nvPr/>
        </p:nvPicPr>
        <p:blipFill>
          <a:blip r:embed="rId3"/>
          <a:stretch>
            <a:fillRect/>
          </a:stretch>
        </p:blipFill>
        <p:spPr>
          <a:xfrm>
            <a:off x="820765" y="1433413"/>
            <a:ext cx="168981" cy="168981"/>
          </a:xfrm>
          <a:prstGeom prst="rect">
            <a:avLst/>
          </a:prstGeom>
        </p:spPr>
      </p:pic>
      <p:sp>
        <p:nvSpPr>
          <p:cNvPr id="6" name="Column header Implementation"/>
          <p:cNvSpPr txBox="1"/>
          <p:nvPr/>
        </p:nvSpPr>
        <p:spPr>
          <a:xfrm>
            <a:off x="1207008" y="1325880"/>
            <a:ext cx="1828800" cy="384048"/>
          </a:xfrm>
          <a:prstGeom prst="rect">
            <a:avLst/>
          </a:prstGeom>
          <a:noFill/>
          <a:ln/>
        </p:spPr>
        <p:txBody>
          <a:bodyPr wrap="square" lIns="0" tIns="0" rIns="0" bIns="0" rtlCol="0" anchor="ctr"/>
          <a:lstStyle/>
          <a:p>
            <a:pPr marL="0" indent="0" algn="l">
              <a:buNone/>
            </a:pPr>
            <a:r>
              <a:rPr lang="en-US" sz="1600" b="1" dirty="0">
                <a:solidFill>
                  <a:schemeClr val="tx2"/>
                </a:solidFill>
              </a:rPr>
              <a:t>Implementation</a:t>
            </a:r>
            <a:endParaRPr lang="en-US" sz="1600" dirty="0"/>
          </a:p>
        </p:txBody>
      </p:sp>
      <p:sp>
        <p:nvSpPr>
          <p:cNvPr id="7" name="Column card Testing Results"/>
          <p:cNvSpPr/>
          <p:nvPr/>
        </p:nvSpPr>
        <p:spPr>
          <a:xfrm>
            <a:off x="3300984" y="1220724"/>
            <a:ext cx="2635397" cy="3383280"/>
          </a:xfrm>
          <a:prstGeom prst="roundRect">
            <a:avLst>
              <a:gd name="adj" fmla="val 4286"/>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8" name="Testing Results circle"/>
          <p:cNvSpPr/>
          <p:nvPr/>
        </p:nvSpPr>
        <p:spPr>
          <a:xfrm>
            <a:off x="3456432" y="1325880"/>
            <a:ext cx="384048" cy="384048"/>
          </a:xfrm>
          <a:prstGeom prst="ellipse">
            <a:avLst/>
          </a:prstGeom>
          <a:solidFill>
            <a:schemeClr val="accent1"/>
          </a:solidFill>
          <a:ln/>
        </p:spPr>
      </p:sp>
      <p:pic>
        <p:nvPicPr>
          <p:cNvPr id="9" name="Testing Results icon" descr="Testing Results"/>
          <p:cNvPicPr>
            <a:picLocks noChangeAspect="1"/>
          </p:cNvPicPr>
          <p:nvPr/>
        </p:nvPicPr>
        <p:blipFill>
          <a:blip r:embed="rId4"/>
          <a:stretch>
            <a:fillRect/>
          </a:stretch>
        </p:blipFill>
        <p:spPr>
          <a:xfrm>
            <a:off x="3563965" y="1433413"/>
            <a:ext cx="168981" cy="168981"/>
          </a:xfrm>
          <a:prstGeom prst="rect">
            <a:avLst/>
          </a:prstGeom>
        </p:spPr>
      </p:pic>
      <p:sp>
        <p:nvSpPr>
          <p:cNvPr id="10" name="Column header Testing Results"/>
          <p:cNvSpPr txBox="1"/>
          <p:nvPr/>
        </p:nvSpPr>
        <p:spPr>
          <a:xfrm>
            <a:off x="3950208" y="1325880"/>
            <a:ext cx="1828800" cy="384048"/>
          </a:xfrm>
          <a:prstGeom prst="rect">
            <a:avLst/>
          </a:prstGeom>
          <a:noFill/>
          <a:ln/>
        </p:spPr>
        <p:txBody>
          <a:bodyPr wrap="square" lIns="0" tIns="0" rIns="0" bIns="0" rtlCol="0" anchor="ctr"/>
          <a:lstStyle/>
          <a:p>
            <a:pPr marL="0" indent="0" algn="l">
              <a:buNone/>
            </a:pPr>
            <a:r>
              <a:rPr lang="en-US" sz="1600" b="1" dirty="0">
                <a:solidFill>
                  <a:schemeClr val="tx2"/>
                </a:solidFill>
              </a:rPr>
              <a:t>Testing Results</a:t>
            </a:r>
            <a:endParaRPr lang="en-US" sz="1600" dirty="0"/>
          </a:p>
        </p:txBody>
      </p:sp>
      <p:sp>
        <p:nvSpPr>
          <p:cNvPr id="15" name="Implementation list"/>
          <p:cNvSpPr txBox="1"/>
          <p:nvPr/>
        </p:nvSpPr>
        <p:spPr>
          <a:xfrm>
            <a:off x="731520" y="1874520"/>
            <a:ext cx="2194560" cy="2560320"/>
          </a:xfrm>
          <a:prstGeom prst="rect">
            <a:avLst/>
          </a:prstGeom>
          <a:noFill/>
          <a:ln/>
        </p:spPr>
        <p:txBody>
          <a:bodyPr wrap="square" lIns="0" tIns="0" rIns="0" bIns="0" rtlCol="0" anchor="t"/>
          <a:lstStyle/>
          <a:p>
            <a:pPr marL="0" indent="0">
              <a:spcAft>
                <a:spcPts val="1000"/>
              </a:spcAft>
              <a:buNone/>
            </a:pPr>
            <a:endParaRPr lang="en-US" sz="1600" dirty="0"/>
          </a:p>
        </p:txBody>
      </p:sp>
      <p:sp>
        <p:nvSpPr>
          <p:cNvPr id="17" name="Test label"/>
          <p:cNvSpPr txBox="1"/>
          <p:nvPr/>
        </p:nvSpPr>
        <p:spPr>
          <a:xfrm>
            <a:off x="3474719" y="2135032"/>
            <a:ext cx="2304289" cy="274320"/>
          </a:xfrm>
          <a:prstGeom prst="rect">
            <a:avLst/>
          </a:prstGeom>
          <a:noFill/>
          <a:ln/>
        </p:spPr>
        <p:txBody>
          <a:bodyPr wrap="square" lIns="0" tIns="0" rIns="0" bIns="0" rtlCol="0" anchor="t"/>
          <a:lstStyle/>
          <a:p>
            <a:r>
              <a:rPr lang="en-US" sz="1600" b="1" dirty="0">
                <a:solidFill>
                  <a:schemeClr val="accent1"/>
                </a:solidFill>
              </a:rPr>
              <a:t>86 Automated Tests Passed </a:t>
            </a:r>
            <a:r>
              <a:rPr lang="en-US" sz="1400" dirty="0"/>
              <a:t>(checks on different system features)</a:t>
            </a:r>
          </a:p>
          <a:p>
            <a:r>
              <a:rPr lang="en-US" sz="1400" dirty="0">
                <a:solidFill>
                  <a:schemeClr val="accent1"/>
                </a:solidFill>
              </a:rPr>
              <a:t>18 API Checks Completed </a:t>
            </a:r>
            <a:r>
              <a:rPr lang="en-US" sz="1400" dirty="0"/>
              <a:t>(checks of backend operations)</a:t>
            </a:r>
          </a:p>
          <a:p>
            <a:r>
              <a:rPr lang="en-US" sz="1400" dirty="0">
                <a:solidFill>
                  <a:schemeClr val="accent1"/>
                </a:solidFill>
              </a:rPr>
              <a:t>Build Verification </a:t>
            </a:r>
            <a:r>
              <a:rPr lang="en-US" sz="1400" dirty="0"/>
              <a:t>(production build completed successfully)</a:t>
            </a:r>
          </a:p>
          <a:p>
            <a:r>
              <a:rPr lang="en-US" sz="1400" dirty="0">
                <a:solidFill>
                  <a:schemeClr val="accent1"/>
                </a:solidFill>
              </a:rPr>
              <a:t>Testing Tools</a:t>
            </a:r>
            <a:r>
              <a:rPr lang="en-US" sz="1400" dirty="0"/>
              <a:t>: </a:t>
            </a:r>
            <a:r>
              <a:rPr lang="en-US" sz="1400" dirty="0" err="1"/>
              <a:t>Vitest</a:t>
            </a:r>
            <a:r>
              <a:rPr lang="en-US" sz="1400" dirty="0"/>
              <a:t> and </a:t>
            </a:r>
            <a:r>
              <a:rPr lang="en-US" sz="1400" dirty="0" err="1"/>
              <a:t>Supertest</a:t>
            </a:r>
            <a:endParaRPr lang="en-US" sz="1400" dirty="0"/>
          </a:p>
        </p:txBody>
      </p:sp>
      <p:sp>
        <p:nvSpPr>
          <p:cNvPr id="18" name="Test source"/>
          <p:cNvSpPr txBox="1"/>
          <p:nvPr/>
        </p:nvSpPr>
        <p:spPr>
          <a:xfrm>
            <a:off x="3474719" y="2761488"/>
            <a:ext cx="2194560" cy="228600"/>
          </a:xfrm>
          <a:prstGeom prst="rect">
            <a:avLst/>
          </a:prstGeom>
          <a:noFill/>
          <a:ln/>
        </p:spPr>
        <p:txBody>
          <a:bodyPr wrap="square" lIns="0" tIns="0" rIns="0" bIns="0" rtlCol="0" anchor="t"/>
          <a:lstStyle/>
          <a:p>
            <a:pPr marL="0" indent="0" algn="l">
              <a:buNone/>
            </a:pPr>
            <a:endParaRPr lang="en-US" sz="1200" dirty="0"/>
          </a:p>
        </p:txBody>
      </p:sp>
      <p:sp>
        <p:nvSpPr>
          <p:cNvPr id="20" name="Future scope list"/>
          <p:cNvSpPr txBox="1"/>
          <p:nvPr/>
        </p:nvSpPr>
        <p:spPr>
          <a:xfrm>
            <a:off x="6217920" y="1874520"/>
            <a:ext cx="2194560" cy="2606040"/>
          </a:xfrm>
          <a:prstGeom prst="rect">
            <a:avLst/>
          </a:prstGeom>
          <a:noFill/>
          <a:ln/>
        </p:spPr>
        <p:txBody>
          <a:bodyPr wrap="square" lIns="0" tIns="0" rIns="0" bIns="0" rtlCol="0" anchor="t"/>
          <a:lstStyle/>
          <a:p>
            <a:pPr marL="0" indent="0">
              <a:spcAft>
                <a:spcPts val="1000"/>
              </a:spcAft>
              <a:buNone/>
            </a:pPr>
            <a:endParaRPr lang="en-US" sz="1600" dirty="0"/>
          </a:p>
        </p:txBody>
      </p:sp>
      <p:sp>
        <p:nvSpPr>
          <p:cNvPr id="25" name="Slide Number Placeholder 0"/>
          <p:cNvSpPr>
            <a:spLocks noGrp="1"/>
          </p:cNvSpPr>
          <p:nvPr>
            <p:ph type="sldNum" sz="quarter" idx="4294967295"/>
          </p:nvPr>
        </p:nvSpPr>
        <p:spPr>
          <a:xfrm>
            <a:off x="8046720" y="4727448"/>
            <a:ext cx="548640" cy="246888"/>
          </a:xfrm>
          <a:prstGeom prst="rect">
            <a:avLst/>
          </a:prstGeom>
          <a:extLst>
            <a:ext uri="{C572A759-6A51-4108-AA02-DFA0A04FC94B}">
              <ma14:wrappingTextBoxFlag xmlns:ma14="http://schemas.microsoft.com/office/mac/drawingml/2011/main" xmlns="" val="0"/>
            </a:ext>
          </a:extLst>
        </p:spPr>
        <p:txBody>
          <a:bodyPr/>
          <a:lstStyle>
            <a:lvl1pPr>
              <a:defRPr sz="1000">
                <a:solidFill>
                  <a:srgbClr val="123D2D"/>
                </a:solidFill>
                <a:latin typeface="Calibri"/>
                <a:ea typeface="Calibri"/>
                <a:cs typeface="Calibri"/>
              </a:defRPr>
            </a:lvl1pPr>
          </a:lstStyle>
          <a:p>
            <a:pPr algn="r"/>
            <a:fld id="{F7021451-1387-4CA6-816F-3879F97B5CBC}" type="slidenum">
              <a:rPr lang="en-US" b="1"/>
              <a:t>9</a:t>
            </a:fld>
            <a:endParaRPr lang="en-US"/>
          </a:p>
        </p:txBody>
      </p:sp>
      <p:pic>
        <p:nvPicPr>
          <p:cNvPr id="24" name="Picture 23">
            <a:extLst>
              <a:ext uri="{FF2B5EF4-FFF2-40B4-BE49-F238E27FC236}">
                <a16:creationId xmlns:a16="http://schemas.microsoft.com/office/drawing/2014/main" id="{BBD6896B-9F1D-F10D-756B-5B52A2051D73}"/>
              </a:ext>
            </a:extLst>
          </p:cNvPr>
          <p:cNvPicPr>
            <a:picLocks noChangeAspect="1"/>
          </p:cNvPicPr>
          <p:nvPr/>
        </p:nvPicPr>
        <p:blipFill>
          <a:blip r:embed="rId5"/>
          <a:stretch>
            <a:fillRect/>
          </a:stretch>
        </p:blipFill>
        <p:spPr>
          <a:xfrm>
            <a:off x="820765" y="1716183"/>
            <a:ext cx="2006656" cy="2759623"/>
          </a:xfrm>
          <a:prstGeom prst="rect">
            <a:avLst/>
          </a:prstGeom>
        </p:spPr>
      </p:pic>
      <p:sp>
        <p:nvSpPr>
          <p:cNvPr id="29" name="Column card Future Scope">
            <a:extLst>
              <a:ext uri="{FF2B5EF4-FFF2-40B4-BE49-F238E27FC236}">
                <a16:creationId xmlns:a16="http://schemas.microsoft.com/office/drawing/2014/main" id="{4E824F6D-F746-EE3E-B8B6-7DC460FAC1ED}"/>
              </a:ext>
            </a:extLst>
          </p:cNvPr>
          <p:cNvSpPr/>
          <p:nvPr/>
        </p:nvSpPr>
        <p:spPr>
          <a:xfrm>
            <a:off x="6128405" y="1220724"/>
            <a:ext cx="2560320" cy="3383280"/>
          </a:xfrm>
          <a:prstGeom prst="roundRect">
            <a:avLst>
              <a:gd name="adj" fmla="val 4286"/>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sp>
      <p:sp>
        <p:nvSpPr>
          <p:cNvPr id="31" name="Future Scope circle">
            <a:extLst>
              <a:ext uri="{FF2B5EF4-FFF2-40B4-BE49-F238E27FC236}">
                <a16:creationId xmlns:a16="http://schemas.microsoft.com/office/drawing/2014/main" id="{30F8833F-72DC-2BBA-8F07-008F75F26E9D}"/>
              </a:ext>
            </a:extLst>
          </p:cNvPr>
          <p:cNvSpPr/>
          <p:nvPr/>
        </p:nvSpPr>
        <p:spPr>
          <a:xfrm>
            <a:off x="6237171" y="1320086"/>
            <a:ext cx="384048" cy="384048"/>
          </a:xfrm>
          <a:prstGeom prst="ellipse">
            <a:avLst/>
          </a:prstGeom>
          <a:solidFill>
            <a:schemeClr val="accent1"/>
          </a:solidFill>
          <a:ln/>
        </p:spPr>
      </p:sp>
      <p:pic>
        <p:nvPicPr>
          <p:cNvPr id="33" name="Future Scope icon" descr="Future Scope">
            <a:extLst>
              <a:ext uri="{FF2B5EF4-FFF2-40B4-BE49-F238E27FC236}">
                <a16:creationId xmlns:a16="http://schemas.microsoft.com/office/drawing/2014/main" id="{D7FFF798-39DD-1731-9624-F7A9893793D7}"/>
              </a:ext>
            </a:extLst>
          </p:cNvPr>
          <p:cNvPicPr>
            <a:picLocks noChangeAspect="1"/>
          </p:cNvPicPr>
          <p:nvPr/>
        </p:nvPicPr>
        <p:blipFill>
          <a:blip r:embed="rId6"/>
          <a:stretch>
            <a:fillRect/>
          </a:stretch>
        </p:blipFill>
        <p:spPr>
          <a:xfrm>
            <a:off x="6344704" y="1427619"/>
            <a:ext cx="168981" cy="168981"/>
          </a:xfrm>
          <a:prstGeom prst="rect">
            <a:avLst/>
          </a:prstGeom>
        </p:spPr>
      </p:pic>
      <p:sp>
        <p:nvSpPr>
          <p:cNvPr id="35" name="Column header Future Scope">
            <a:extLst>
              <a:ext uri="{FF2B5EF4-FFF2-40B4-BE49-F238E27FC236}">
                <a16:creationId xmlns:a16="http://schemas.microsoft.com/office/drawing/2014/main" id="{75D4193E-4353-291E-AE0A-585B11A1BFEE}"/>
              </a:ext>
            </a:extLst>
          </p:cNvPr>
          <p:cNvSpPr txBox="1"/>
          <p:nvPr/>
        </p:nvSpPr>
        <p:spPr>
          <a:xfrm>
            <a:off x="6766560" y="1308977"/>
            <a:ext cx="1828800" cy="384048"/>
          </a:xfrm>
          <a:prstGeom prst="rect">
            <a:avLst/>
          </a:prstGeom>
          <a:noFill/>
          <a:ln/>
        </p:spPr>
        <p:txBody>
          <a:bodyPr wrap="square" lIns="0" tIns="0" rIns="0" bIns="0" rtlCol="0" anchor="ctr"/>
          <a:lstStyle/>
          <a:p>
            <a:pPr marL="0" indent="0" algn="l">
              <a:buNone/>
            </a:pPr>
            <a:r>
              <a:rPr lang="en-US" sz="1600" b="1" dirty="0">
                <a:solidFill>
                  <a:schemeClr val="tx2"/>
                </a:solidFill>
              </a:rPr>
              <a:t>Future Scope</a:t>
            </a:r>
            <a:endParaRPr lang="en-US" sz="1600" dirty="0"/>
          </a:p>
        </p:txBody>
      </p:sp>
      <p:sp>
        <p:nvSpPr>
          <p:cNvPr id="37" name="Future scope list">
            <a:extLst>
              <a:ext uri="{FF2B5EF4-FFF2-40B4-BE49-F238E27FC236}">
                <a16:creationId xmlns:a16="http://schemas.microsoft.com/office/drawing/2014/main" id="{FD0E016C-2BCF-ABEB-5457-7C8210369D6F}"/>
              </a:ext>
            </a:extLst>
          </p:cNvPr>
          <p:cNvSpPr txBox="1"/>
          <p:nvPr/>
        </p:nvSpPr>
        <p:spPr>
          <a:xfrm>
            <a:off x="6344704" y="1778095"/>
            <a:ext cx="2194560" cy="2606040"/>
          </a:xfrm>
          <a:prstGeom prst="rect">
            <a:avLst/>
          </a:prstGeom>
          <a:noFill/>
          <a:ln/>
        </p:spPr>
        <p:txBody>
          <a:bodyPr wrap="square" lIns="0" tIns="0" rIns="0" bIns="0" rtlCol="0" anchor="t"/>
          <a:lstStyle/>
          <a:p>
            <a:pPr marL="0" indent="0">
              <a:spcAft>
                <a:spcPts val="1000"/>
              </a:spcAft>
              <a:buNone/>
            </a:pPr>
            <a:r>
              <a:rPr lang="en-US" sz="1600" dirty="0">
                <a:solidFill>
                  <a:schemeClr val="tx1"/>
                </a:solidFill>
              </a:rPr>
              <a:t>Connect and verify </a:t>
            </a:r>
            <a:r>
              <a:rPr lang="en-US" sz="1600" b="1" dirty="0">
                <a:solidFill>
                  <a:schemeClr val="accent1"/>
                </a:solidFill>
              </a:rPr>
              <a:t>Supabase PostgreSQL</a:t>
            </a:r>
            <a:r>
              <a:rPr lang="en-US" sz="1600" dirty="0">
                <a:solidFill>
                  <a:schemeClr val="tx1"/>
                </a:solidFill>
              </a:rPr>
              <a:t>.</a:t>
            </a:r>
            <a:endParaRPr lang="en-US" sz="1600" dirty="0"/>
          </a:p>
          <a:p>
            <a:pPr marL="0" indent="0">
              <a:spcAft>
                <a:spcPts val="1000"/>
              </a:spcAft>
              <a:buNone/>
            </a:pPr>
            <a:r>
              <a:rPr lang="en-US" sz="1600" dirty="0">
                <a:solidFill>
                  <a:schemeClr val="tx1"/>
                </a:solidFill>
              </a:rPr>
              <a:t>Complete </a:t>
            </a:r>
            <a:r>
              <a:rPr lang="en-US" sz="1600" b="1" dirty="0">
                <a:solidFill>
                  <a:schemeClr val="accent1"/>
                </a:solidFill>
              </a:rPr>
              <a:t>end-to-end testing</a:t>
            </a:r>
            <a:r>
              <a:rPr lang="en-US" sz="1600" dirty="0">
                <a:solidFill>
                  <a:schemeClr val="tx1"/>
                </a:solidFill>
              </a:rPr>
              <a:t>.</a:t>
            </a:r>
            <a:endParaRPr lang="en-US" sz="1600" dirty="0"/>
          </a:p>
          <a:p>
            <a:pPr marL="0" indent="0">
              <a:spcAft>
                <a:spcPts val="1000"/>
              </a:spcAft>
              <a:buNone/>
            </a:pPr>
            <a:r>
              <a:rPr lang="en-US" sz="1600" dirty="0">
                <a:solidFill>
                  <a:schemeClr val="tx1"/>
                </a:solidFill>
              </a:rPr>
              <a:t>Configure and validate </a:t>
            </a:r>
            <a:r>
              <a:rPr lang="en-US" sz="1600" b="1" dirty="0">
                <a:solidFill>
                  <a:schemeClr val="accent1"/>
                </a:solidFill>
              </a:rPr>
              <a:t>external integrations</a:t>
            </a:r>
            <a:r>
              <a:rPr lang="en-US" sz="1600" dirty="0">
                <a:solidFill>
                  <a:schemeClr val="tx1"/>
                </a:solidFill>
              </a:rPr>
              <a:t>.</a:t>
            </a:r>
            <a:endParaRPr lang="en-US" sz="1600" dirty="0"/>
          </a:p>
          <a:p>
            <a:pPr marL="0" indent="0">
              <a:spcAft>
                <a:spcPts val="1000"/>
              </a:spcAft>
              <a:buNone/>
            </a:pPr>
            <a:r>
              <a:rPr lang="en-US" sz="1600" dirty="0">
                <a:solidFill>
                  <a:schemeClr val="tx1"/>
                </a:solidFill>
              </a:rPr>
              <a:t>Improve cloud persistence, scalability, and monitoring.</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9B4CF-9C51-7E2F-122E-BBD4D8071096}"/>
            </a:ext>
          </a:extLst>
        </p:cNvPr>
        <p:cNvGrpSpPr/>
        <p:nvPr/>
      </p:nvGrpSpPr>
      <p:grpSpPr>
        <a:xfrm>
          <a:off x="0" y="0"/>
          <a:ext cx="0" cy="0"/>
          <a:chOff x="0" y="0"/>
          <a:chExt cx="0" cy="0"/>
        </a:xfrm>
      </p:grpSpPr>
      <p:sp>
        <p:nvSpPr>
          <p:cNvPr id="3" name="Frontend card">
            <a:extLst>
              <a:ext uri="{FF2B5EF4-FFF2-40B4-BE49-F238E27FC236}">
                <a16:creationId xmlns:a16="http://schemas.microsoft.com/office/drawing/2014/main" id="{DD5DF4AC-ABEC-0ED3-145A-474676F6A4FB}"/>
              </a:ext>
            </a:extLst>
          </p:cNvPr>
          <p:cNvSpPr/>
          <p:nvPr/>
        </p:nvSpPr>
        <p:spPr>
          <a:xfrm>
            <a:off x="385011" y="105032"/>
            <a:ext cx="8163428" cy="2702545"/>
          </a:xfrm>
          <a:prstGeom prst="roundRect">
            <a:avLst>
              <a:gd name="adj" fmla="val 4800"/>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txBody>
          <a:bodyPr/>
          <a:lstStyle/>
          <a:p>
            <a:r>
              <a:rPr lang="en-US" sz="2400" b="1" dirty="0">
                <a:solidFill>
                  <a:schemeClr val="accent1"/>
                </a:solidFill>
              </a:rPr>
              <a:t>CONCLUSION</a:t>
            </a:r>
          </a:p>
          <a:p>
            <a:r>
              <a:rPr lang="en-US" dirty="0"/>
              <a:t>S</a:t>
            </a:r>
            <a:r>
              <a:rPr lang="en-US" sz="1400" dirty="0"/>
              <a:t>tride integrates Agile project management into one platform.</a:t>
            </a:r>
          </a:p>
          <a:p>
            <a:endParaRPr lang="en-US" sz="1400" dirty="0"/>
          </a:p>
          <a:p>
            <a:r>
              <a:rPr lang="en-US" sz="1400" dirty="0"/>
              <a:t>Automates QA-to-bug conversion and retrospective task creation.</a:t>
            </a:r>
          </a:p>
          <a:p>
            <a:endParaRPr lang="en-US" sz="1400" dirty="0"/>
          </a:p>
          <a:p>
            <a:r>
              <a:rPr lang="en-US" sz="1400" dirty="0"/>
              <a:t>Generates release notes from completed work items.</a:t>
            </a:r>
          </a:p>
          <a:p>
            <a:endParaRPr lang="en-US" sz="1400" dirty="0"/>
          </a:p>
          <a:p>
            <a:r>
              <a:rPr lang="en-US" sz="1400" dirty="0"/>
              <a:t>Reduces manual effort and improves workflow traceability.</a:t>
            </a:r>
          </a:p>
          <a:p>
            <a:endParaRPr lang="en-US" sz="1400" dirty="0"/>
          </a:p>
          <a:p>
            <a:r>
              <a:rPr lang="en-US" sz="1400" dirty="0"/>
              <a:t>Supports efficient team collaboration and software delivery.</a:t>
            </a:r>
            <a:endParaRPr lang="en-IN" sz="1400" dirty="0"/>
          </a:p>
        </p:txBody>
      </p:sp>
      <p:pic>
        <p:nvPicPr>
          <p:cNvPr id="5" name="Frontend icon" descr="Frontend">
            <a:extLst>
              <a:ext uri="{FF2B5EF4-FFF2-40B4-BE49-F238E27FC236}">
                <a16:creationId xmlns:a16="http://schemas.microsoft.com/office/drawing/2014/main" id="{88E0E199-4DF9-054A-5BBE-DB1AA8DDA261}"/>
              </a:ext>
            </a:extLst>
          </p:cNvPr>
          <p:cNvPicPr>
            <a:picLocks noChangeAspect="1"/>
          </p:cNvPicPr>
          <p:nvPr/>
        </p:nvPicPr>
        <p:blipFill>
          <a:blip r:embed="rId3"/>
          <a:stretch>
            <a:fillRect/>
          </a:stretch>
        </p:blipFill>
        <p:spPr>
          <a:xfrm>
            <a:off x="856139" y="1289304"/>
            <a:ext cx="168981" cy="168981"/>
          </a:xfrm>
          <a:prstGeom prst="rect">
            <a:avLst/>
          </a:prstGeom>
        </p:spPr>
      </p:pic>
      <p:sp>
        <p:nvSpPr>
          <p:cNvPr id="7" name="Frontend item React">
            <a:extLst>
              <a:ext uri="{FF2B5EF4-FFF2-40B4-BE49-F238E27FC236}">
                <a16:creationId xmlns:a16="http://schemas.microsoft.com/office/drawing/2014/main" id="{2407A185-B5DB-7D07-5DA1-F5A5A15E0793}"/>
              </a:ext>
            </a:extLst>
          </p:cNvPr>
          <p:cNvSpPr txBox="1"/>
          <p:nvPr/>
        </p:nvSpPr>
        <p:spPr>
          <a:xfrm>
            <a:off x="713231" y="1623599"/>
            <a:ext cx="8045758" cy="749808"/>
          </a:xfrm>
          <a:prstGeom prst="rect">
            <a:avLst/>
          </a:prstGeom>
          <a:noFill/>
          <a:ln/>
        </p:spPr>
        <p:txBody>
          <a:bodyPr wrap="square" lIns="0" tIns="0" rIns="0" bIns="0" rtlCol="0" anchor="t"/>
          <a:lstStyle/>
          <a:p>
            <a:pPr marL="0" indent="0" algn="l">
              <a:spcAft>
                <a:spcPts val="100"/>
              </a:spcAft>
              <a:buNone/>
            </a:pPr>
            <a:endParaRPr lang="en-US" sz="1500" dirty="0"/>
          </a:p>
        </p:txBody>
      </p:sp>
      <p:sp>
        <p:nvSpPr>
          <p:cNvPr id="28" name="Slide Number Placeholder 0">
            <a:extLst>
              <a:ext uri="{FF2B5EF4-FFF2-40B4-BE49-F238E27FC236}">
                <a16:creationId xmlns:a16="http://schemas.microsoft.com/office/drawing/2014/main" id="{DDE6D971-4C1B-4C35-16AC-72E2CB95CF53}"/>
              </a:ext>
            </a:extLst>
          </p:cNvPr>
          <p:cNvSpPr>
            <a:spLocks noGrp="1"/>
          </p:cNvSpPr>
          <p:nvPr>
            <p:ph type="sldNum" sz="quarter" idx="4294967295"/>
          </p:nvPr>
        </p:nvSpPr>
        <p:spPr>
          <a:xfrm>
            <a:off x="8046720" y="4727448"/>
            <a:ext cx="548640" cy="246888"/>
          </a:xfrm>
          <a:prstGeom prst="rect">
            <a:avLst/>
          </a:prstGeom>
          <a:extLst>
            <a:ext uri="{C572A759-6A51-4108-AA02-DFA0A04FC94B}">
              <ma14:wrappingTextBoxFlag xmlns:ma14="http://schemas.microsoft.com/office/mac/drawingml/2011/main" xmlns="" val="0"/>
            </a:ext>
          </a:extLst>
        </p:spPr>
        <p:txBody>
          <a:bodyPr/>
          <a:lstStyle>
            <a:lvl1pPr>
              <a:defRPr sz="1000">
                <a:solidFill>
                  <a:srgbClr val="123D2D"/>
                </a:solidFill>
                <a:latin typeface="Calibri"/>
                <a:ea typeface="Calibri"/>
                <a:cs typeface="Calibri"/>
              </a:defRPr>
            </a:lvl1pPr>
          </a:lstStyle>
          <a:p>
            <a:pPr algn="r"/>
            <a:fld id="{F7021451-1387-4CA6-816F-3879F97B5CBC}" type="slidenum">
              <a:rPr lang="en-US" b="1"/>
              <a:t>10</a:t>
            </a:fld>
            <a:endParaRPr lang="en-US"/>
          </a:p>
        </p:txBody>
      </p:sp>
      <p:sp>
        <p:nvSpPr>
          <p:cNvPr id="30" name="Data storage card">
            <a:extLst>
              <a:ext uri="{FF2B5EF4-FFF2-40B4-BE49-F238E27FC236}">
                <a16:creationId xmlns:a16="http://schemas.microsoft.com/office/drawing/2014/main" id="{0F4828F1-992B-8C1B-9FF5-89200EEE01E0}"/>
              </a:ext>
            </a:extLst>
          </p:cNvPr>
          <p:cNvSpPr/>
          <p:nvPr/>
        </p:nvSpPr>
        <p:spPr>
          <a:xfrm>
            <a:off x="401629" y="3045942"/>
            <a:ext cx="8310439" cy="1928394"/>
          </a:xfrm>
          <a:prstGeom prst="roundRect">
            <a:avLst>
              <a:gd name="adj" fmla="val 10435"/>
            </a:avLst>
          </a:prstGeom>
          <a:solidFill>
            <a:schemeClr val="bg1"/>
          </a:solidFill>
          <a:ln w="12700">
            <a:solidFill>
              <a:schemeClr val="accent2"/>
            </a:solidFill>
            <a:prstDash val="solid"/>
          </a:ln>
          <a:effectLst>
            <a:outerShdw blurRad="101600" dist="25400" dir="5400000" algn="bl" rotWithShape="0">
              <a:srgbClr val="123D2D">
                <a:alpha val="10000"/>
              </a:srgbClr>
            </a:outerShdw>
          </a:effectLst>
        </p:spPr>
        <p:txBody>
          <a:bodyPr/>
          <a:lstStyle/>
          <a:p>
            <a:r>
              <a:rPr lang="en-IN" sz="2400" b="1" dirty="0">
                <a:solidFill>
                  <a:schemeClr val="accent1"/>
                </a:solidFill>
              </a:rPr>
              <a:t>REFERENCE</a:t>
            </a:r>
            <a:endParaRPr lang="en-IN" sz="1400" b="1" dirty="0">
              <a:solidFill>
                <a:schemeClr val="accent1"/>
              </a:solidFill>
            </a:endParaRPr>
          </a:p>
          <a:p>
            <a:r>
              <a:rPr lang="en-IN" sz="1400" dirty="0"/>
              <a:t>1. Lehtinen, T. O. A., et al. (2017). Recurring Opinions or Productive Improvements in Agile Retrospectives. </a:t>
            </a:r>
            <a:r>
              <a:rPr lang="en-IN" sz="1400" dirty="0">
                <a:hlinkClick r:id="rId4"/>
              </a:rPr>
              <a:t>Read paper</a:t>
            </a:r>
            <a:endParaRPr lang="en-IN" sz="1400" dirty="0"/>
          </a:p>
          <a:p>
            <a:r>
              <a:rPr lang="en-IN" sz="1400" dirty="0"/>
              <a:t>2. Ruiz, M., et al. (2023). Why Don’t We Trace? A Study on the Barriers to Software Traceability in Practice. </a:t>
            </a:r>
            <a:r>
              <a:rPr lang="en-IN" sz="1400" dirty="0">
                <a:hlinkClick r:id="rId5"/>
              </a:rPr>
              <a:t>Read paper</a:t>
            </a:r>
            <a:endParaRPr lang="en-IN" sz="1400" dirty="0"/>
          </a:p>
          <a:p>
            <a:r>
              <a:rPr lang="en-IN" sz="1400" dirty="0"/>
              <a:t>3. </a:t>
            </a:r>
            <a:r>
              <a:rPr lang="en-IN" sz="1400" dirty="0" err="1"/>
              <a:t>Koboyatshwene</a:t>
            </a:r>
            <a:r>
              <a:rPr lang="en-IN" sz="1400" dirty="0"/>
              <a:t>, T., &amp; Ayalew, Y. (2025). Requirements Traceability: A Systematic Literature Review. </a:t>
            </a:r>
            <a:r>
              <a:rPr lang="en-IN" sz="1400" dirty="0">
                <a:hlinkClick r:id="rId6"/>
              </a:rPr>
              <a:t>Read paper</a:t>
            </a:r>
            <a:endParaRPr lang="en-IN" sz="1400" dirty="0"/>
          </a:p>
        </p:txBody>
      </p:sp>
    </p:spTree>
    <p:extLst>
      <p:ext uri="{BB962C8B-B14F-4D97-AF65-F5344CB8AC3E}">
        <p14:creationId xmlns:p14="http://schemas.microsoft.com/office/powerpoint/2010/main" val="539487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234440"/>
            <a:ext cx="4754880" cy="1005840"/>
          </a:xfrm>
          <a:prstGeom prst="rect">
            <a:avLst/>
          </a:prstGeom>
          <a:noFill/>
          <a:ln/>
        </p:spPr>
        <p:txBody>
          <a:bodyPr wrap="square" lIns="0" tIns="0" rIns="0" bIns="0" rtlCol="0" anchor="ctr"/>
          <a:lstStyle/>
          <a:p>
            <a:pPr marL="0" indent="0" algn="l">
              <a:buNone/>
            </a:pPr>
            <a:r>
              <a:rPr lang="en-US" sz="5600" b="1" dirty="0">
                <a:solidFill>
                  <a:schemeClr val="bg2"/>
                </a:solidFill>
              </a:rPr>
              <a:t>Thank You</a:t>
            </a:r>
            <a:endParaRPr lang="en-US" sz="5600" dirty="0"/>
          </a:p>
        </p:txBody>
      </p:sp>
      <p:sp>
        <p:nvSpPr>
          <p:cNvPr id="3" name="Closing subtitle"/>
          <p:cNvSpPr txBox="1"/>
          <p:nvPr/>
        </p:nvSpPr>
        <p:spPr>
          <a:xfrm>
            <a:off x="731520" y="2286000"/>
            <a:ext cx="4754880" cy="365760"/>
          </a:xfrm>
          <a:prstGeom prst="rect">
            <a:avLst/>
          </a:prstGeom>
          <a:noFill/>
          <a:ln/>
        </p:spPr>
        <p:txBody>
          <a:bodyPr wrap="square" lIns="0" tIns="0" rIns="0" bIns="0" rtlCol="0" anchor="t"/>
          <a:lstStyle/>
          <a:p>
            <a:pPr marL="0" indent="0" algn="l">
              <a:buNone/>
            </a:pPr>
            <a:r>
              <a:rPr lang="en-US" sz="2000" b="1" dirty="0">
                <a:solidFill>
                  <a:schemeClr val="accent2"/>
                </a:solidFill>
              </a:rPr>
              <a:t>Stride — Agile Project Management System</a:t>
            </a:r>
            <a:endParaRPr lang="en-US" sz="2000" dirty="0"/>
          </a:p>
        </p:txBody>
      </p:sp>
      <p:sp>
        <p:nvSpPr>
          <p:cNvPr id="5" name="Ring outer"/>
          <p:cNvSpPr/>
          <p:nvPr/>
        </p:nvSpPr>
        <p:spPr>
          <a:xfrm>
            <a:off x="5577840" y="685800"/>
            <a:ext cx="3108960" cy="3108960"/>
          </a:xfrm>
          <a:prstGeom prst="ellipse">
            <a:avLst/>
          </a:prstGeom>
          <a:ln w="19050">
            <a:solidFill>
              <a:schemeClr val="accent1"/>
            </a:solidFill>
            <a:prstDash val="solid"/>
          </a:ln>
        </p:spPr>
      </p:sp>
      <p:sp>
        <p:nvSpPr>
          <p:cNvPr id="6" name="Ring inner"/>
          <p:cNvSpPr/>
          <p:nvPr/>
        </p:nvSpPr>
        <p:spPr>
          <a:xfrm>
            <a:off x="6172200" y="1280160"/>
            <a:ext cx="1920240" cy="1920240"/>
          </a:xfrm>
          <a:prstGeom prst="ellipse">
            <a:avLst/>
          </a:prstGeom>
          <a:ln w="12700">
            <a:solidFill>
              <a:schemeClr val="accent2"/>
            </a:solidFill>
            <a:prstDash val="solid"/>
          </a:ln>
        </p:spPr>
      </p:sp>
      <p:sp>
        <p:nvSpPr>
          <p:cNvPr id="7" name="Ring core"/>
          <p:cNvSpPr/>
          <p:nvPr/>
        </p:nvSpPr>
        <p:spPr>
          <a:xfrm>
            <a:off x="6858000" y="1965960"/>
            <a:ext cx="548640" cy="548640"/>
          </a:xfrm>
          <a:prstGeom prst="ellipse">
            <a:avLst/>
          </a:prstGeom>
          <a:solidFill>
            <a:schemeClr val="accent1"/>
          </a:solidFill>
          <a:ln/>
        </p:spPr>
      </p:sp>
    </p:spTree>
  </p:cSld>
  <p:clrMapOvr>
    <a:masterClrMapping/>
  </p:clrMapOvr>
</p:sld>
</file>

<file path=ppt/theme/theme1.xml><?xml version="1.0" encoding="utf-8"?>
<a:theme xmlns:a="http://schemas.openxmlformats.org/drawingml/2006/main" name="Stride Mint">
  <a:themeElements>
    <a:clrScheme name="Stride Mint">
      <a:dk1>
        <a:srgbClr val="17231F"/>
      </a:dk1>
      <a:lt1>
        <a:srgbClr val="F8FBF8"/>
      </a:lt1>
      <a:dk2>
        <a:srgbClr val="123D2D"/>
      </a:dk2>
      <a:lt2>
        <a:srgbClr val="EAF7F0"/>
      </a:lt2>
      <a:accent1>
        <a:srgbClr val="168B62"/>
      </a:accent1>
      <a:accent2>
        <a:srgbClr val="A8D5BD"/>
      </a:accent2>
      <a:accent3>
        <a:srgbClr val="123D2D"/>
      </a:accent3>
      <a:accent4>
        <a:srgbClr val="5FB394"/>
      </a:accent4>
      <a:accent5>
        <a:srgbClr val="4F6B5E"/>
      </a:accent5>
      <a:accent6>
        <a:srgbClr val="D3EBDD"/>
      </a:accent6>
      <a:hlink>
        <a:srgbClr val="168B62"/>
      </a:hlink>
      <a:folHlink>
        <a:srgbClr val="4F6B5E"/>
      </a:folHlink>
    </a:clrScheme>
    <a:fontScheme name="Stride Min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204</TotalTime>
  <Words>1768</Words>
  <Application>Microsoft Office PowerPoint</Application>
  <PresentationFormat>On-screen Show (16:9)</PresentationFormat>
  <Paragraphs>171</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Stride Mint</vt:lpstr>
      <vt:lpstr>Stride</vt:lpstr>
      <vt:lpstr>Problem Statement</vt:lpstr>
      <vt:lpstr>Objectives</vt:lpstr>
      <vt:lpstr>Proposed Solution</vt:lpstr>
      <vt:lpstr>Novelty</vt:lpstr>
      <vt:lpstr>Key Features</vt:lpstr>
      <vt:lpstr>Technology Stack</vt:lpstr>
      <vt:lpstr>System Architecture</vt:lpstr>
      <vt:lpstr>Implementation, Results &amp; Future Scope</vt:lpstr>
      <vt:lpstr>PowerPoint Presentation</vt:lpstr>
      <vt:lpstr>Thank You</vt:lpstr>
    </vt:vector>
  </TitlesOfParts>
  <Company>Karunya Institute of Technology and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Stride — Agile Project Management System</dc:title>
  <dc:subject>PptxGenJS Presentation</dc:subject>
  <dc:creator>R. Mirthusha and Lakshitha K</dc:creator>
  <cp:lastModifiedBy>Lakshitha K</cp:lastModifiedBy>
  <cp:revision>4</cp:revision>
  <dcterms:created xsi:type="dcterms:W3CDTF">2026-10-29T04:54:19Z</dcterms:created>
  <dcterms:modified xsi:type="dcterms:W3CDTF">2026-10-29T08:27:40Z</dcterms:modified>
</cp:coreProperties>
</file>