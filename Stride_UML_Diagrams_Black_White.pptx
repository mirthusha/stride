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411480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</a:defRPr>
            </a:pPr>
            <a:r>
              <a:t>1. UML Use Case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58368"/>
            <a:ext cx="10972800" cy="228600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0000"/>
                </a:solidFill>
              </a:defRPr>
            </a:pPr>
            <a:r>
              <a:t>Stride — Agile Project Management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1188720"/>
            <a:ext cx="7132320" cy="5212080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 sz="1400">
                <a:solidFill>
                  <a:srgbClr val="000000"/>
                </a:solidFill>
              </a:defRPr>
            </a:pPr>
            <a:r>
              <a:t>Stride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94560"/>
            <a:ext cx="1645920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0000"/>
                </a:solidFill>
              </a:defRPr>
            </a:pPr>
            <a:r>
              <a:t>Team Member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297680"/>
            <a:ext cx="1645920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0000"/>
                </a:solidFill>
              </a:defRPr>
            </a:pPr>
            <a:r>
              <a:t>Project Admin</a:t>
            </a:r>
          </a:p>
        </p:txBody>
      </p:sp>
      <p:sp>
        <p:nvSpPr>
          <p:cNvPr id="7" name="Oval 6"/>
          <p:cNvSpPr/>
          <p:nvPr/>
        </p:nvSpPr>
        <p:spPr>
          <a:xfrm>
            <a:off x="3200400" y="1645920"/>
            <a:ext cx="2286000" cy="5943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Manage Projects</a:t>
            </a:r>
          </a:p>
        </p:txBody>
      </p:sp>
      <p:sp>
        <p:nvSpPr>
          <p:cNvPr id="8" name="Oval 7"/>
          <p:cNvSpPr/>
          <p:nvPr/>
        </p:nvSpPr>
        <p:spPr>
          <a:xfrm>
            <a:off x="6035040" y="1645920"/>
            <a:ext cx="2743200" cy="5943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Manage Backlog &amp; Sprints</a:t>
            </a:r>
          </a:p>
        </p:txBody>
      </p:sp>
      <p:sp>
        <p:nvSpPr>
          <p:cNvPr id="9" name="Oval 8"/>
          <p:cNvSpPr/>
          <p:nvPr/>
        </p:nvSpPr>
        <p:spPr>
          <a:xfrm>
            <a:off x="3200400" y="2743200"/>
            <a:ext cx="2286000" cy="5943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Update Kanban Tasks</a:t>
            </a:r>
          </a:p>
        </p:txBody>
      </p:sp>
      <p:sp>
        <p:nvSpPr>
          <p:cNvPr id="10" name="Oval 9"/>
          <p:cNvSpPr/>
          <p:nvPr/>
        </p:nvSpPr>
        <p:spPr>
          <a:xfrm>
            <a:off x="6035040" y="2743200"/>
            <a:ext cx="2743200" cy="5943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Run QA Test Cases</a:t>
            </a:r>
          </a:p>
        </p:txBody>
      </p:sp>
      <p:sp>
        <p:nvSpPr>
          <p:cNvPr id="11" name="Oval 10"/>
          <p:cNvSpPr/>
          <p:nvPr/>
        </p:nvSpPr>
        <p:spPr>
          <a:xfrm>
            <a:off x="3200400" y="3840480"/>
            <a:ext cx="2286000" cy="5943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Convert Retro Actions</a:t>
            </a:r>
          </a:p>
        </p:txBody>
      </p:sp>
      <p:sp>
        <p:nvSpPr>
          <p:cNvPr id="12" name="Oval 11"/>
          <p:cNvSpPr/>
          <p:nvPr/>
        </p:nvSpPr>
        <p:spPr>
          <a:xfrm>
            <a:off x="6035040" y="3840480"/>
            <a:ext cx="2743200" cy="5943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Generate Release Notes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0" y="5029200"/>
            <a:ext cx="2560320" cy="5943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View Dashboard / Reports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2103120" y="1920240"/>
            <a:ext cx="1097280" cy="59436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103120" y="2514600"/>
            <a:ext cx="1097280" cy="50292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103120" y="2514600"/>
            <a:ext cx="3931920" cy="50292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103120" y="2514600"/>
            <a:ext cx="1097280" cy="160020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103120" y="2514600"/>
            <a:ext cx="3931920" cy="160020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103120" y="2514600"/>
            <a:ext cx="2468880" cy="278892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103120" y="1920240"/>
            <a:ext cx="1097280" cy="269748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03120" y="1920240"/>
            <a:ext cx="3931920" cy="269748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103120" y="4114800"/>
            <a:ext cx="3931920" cy="50292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411480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</a:defRPr>
            </a:pPr>
            <a:r>
              <a:t>2. UML Activity Diagram — QA Defect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58368"/>
            <a:ext cx="10972800" cy="228600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0000"/>
                </a:solidFill>
              </a:defRPr>
            </a:pPr>
            <a:r>
              <a:t>Stride — Agile Project Management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846320" y="1143000"/>
            <a:ext cx="2377440" cy="411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Start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0" y="1828800"/>
            <a:ext cx="3840480" cy="548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0000"/>
                </a:solidFill>
              </a:defRPr>
            </a:pPr>
            <a:r>
              <a:t>Tester runs a test case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2697480"/>
            <a:ext cx="3840480" cy="548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0000"/>
                </a:solidFill>
              </a:defRPr>
            </a:pPr>
            <a:r>
              <a:t>Evaluate test result</a:t>
            </a:r>
          </a:p>
        </p:txBody>
      </p:sp>
      <p:sp>
        <p:nvSpPr>
          <p:cNvPr id="7" name="Diamond 6"/>
          <p:cNvSpPr/>
          <p:nvPr/>
        </p:nvSpPr>
        <p:spPr>
          <a:xfrm>
            <a:off x="4892040" y="3566160"/>
            <a:ext cx="2286000" cy="822960"/>
          </a:xfrm>
          <a:prstGeom prst="diamond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0000"/>
                </a:solidFill>
              </a:defRPr>
            </a:pPr>
            <a:r>
              <a:t>Test failed?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4892040"/>
            <a:ext cx="3108960" cy="594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000000"/>
                </a:solidFill>
              </a:defRPr>
            </a:pPr>
            <a:r>
              <a:t>Pass: record result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4892040"/>
            <a:ext cx="3108960" cy="594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000000"/>
                </a:solidFill>
              </a:defRPr>
            </a:pPr>
            <a:r>
              <a:t>Fail: select Log Defect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5669280"/>
            <a:ext cx="310896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Create bug work item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35040" y="1554480"/>
            <a:ext cx="0" cy="27432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35040" y="2377440"/>
            <a:ext cx="0" cy="32004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035040" y="3246120"/>
            <a:ext cx="0" cy="32004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2560320" y="3977639"/>
            <a:ext cx="2331720" cy="914401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178040" y="3977639"/>
            <a:ext cx="2423160" cy="914401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601200" y="5486400"/>
            <a:ext cx="0" cy="18288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383280" y="4251960"/>
            <a:ext cx="457200" cy="182880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0000"/>
                </a:solidFill>
              </a:defRPr>
            </a:pPr>
            <a:r>
              <a:t>No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4251960"/>
            <a:ext cx="457200" cy="182880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0000"/>
                </a:solidFill>
              </a:defRPr>
            </a:pPr>
            <a:r>
              <a:t>Yes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411480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</a:defRPr>
            </a:pPr>
            <a:r>
              <a:t>3. UML Sequence Diagram — Log Defect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58368"/>
            <a:ext cx="10972800" cy="228600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0000"/>
                </a:solidFill>
              </a:defRPr>
            </a:pPr>
            <a:r>
              <a:t>Stride — Agile Project Management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141732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t>Tester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257300" y="1737360"/>
            <a:ext cx="0" cy="4343400"/>
          </a:xfrm>
          <a:prstGeom prst="line">
            <a:avLst/>
          </a:prstGeom>
          <a:ln w="15240">
            <a:solidFill>
              <a:srgbClr val="0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743200" y="1234440"/>
            <a:ext cx="141732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t>React UI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451860" y="1737360"/>
            <a:ext cx="0" cy="4343400"/>
          </a:xfrm>
          <a:prstGeom prst="line">
            <a:avLst/>
          </a:prstGeom>
          <a:ln w="15240">
            <a:solidFill>
              <a:srgbClr val="0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937760" y="1234440"/>
            <a:ext cx="141732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t>Express API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646420" y="1737360"/>
            <a:ext cx="0" cy="4343400"/>
          </a:xfrm>
          <a:prstGeom prst="line">
            <a:avLst/>
          </a:prstGeom>
          <a:ln w="15240">
            <a:solidFill>
              <a:srgbClr val="0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132320" y="1234440"/>
            <a:ext cx="141732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t>QA Route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840979" y="1737360"/>
            <a:ext cx="0" cy="4343400"/>
          </a:xfrm>
          <a:prstGeom prst="line">
            <a:avLst/>
          </a:prstGeom>
          <a:ln w="15240">
            <a:solidFill>
              <a:srgbClr val="0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418320" y="1234440"/>
            <a:ext cx="141732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t>Storage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126980" y="1737360"/>
            <a:ext cx="0" cy="4343400"/>
          </a:xfrm>
          <a:prstGeom prst="line">
            <a:avLst/>
          </a:prstGeom>
          <a:ln w="15240">
            <a:solidFill>
              <a:srgbClr val="0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257300" y="2011680"/>
            <a:ext cx="2194560" cy="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257300" y="1783080"/>
            <a:ext cx="2423160" cy="201168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00000"/>
                </a:solidFill>
              </a:defRPr>
            </a:pPr>
            <a:r>
              <a:t>1. Click Log Defect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451860" y="2651760"/>
            <a:ext cx="2194560" cy="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451860" y="2423160"/>
            <a:ext cx="2423160" cy="201168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00000"/>
                </a:solidFill>
              </a:defRPr>
            </a:pPr>
            <a:r>
              <a:t>2. Send API request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646420" y="3291840"/>
            <a:ext cx="2194559" cy="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646420" y="3063240"/>
            <a:ext cx="2423159" cy="201168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00000"/>
                </a:solidFill>
              </a:defRPr>
            </a:pPr>
            <a:r>
              <a:t>3. Validate test result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840979" y="3931920"/>
            <a:ext cx="2286001" cy="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840979" y="3703320"/>
            <a:ext cx="2514600" cy="201168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00000"/>
                </a:solidFill>
              </a:defRPr>
            </a:pPr>
            <a:r>
              <a:t>4. Create bug item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7840979" y="4572000"/>
            <a:ext cx="2286001" cy="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840979" y="4343400"/>
            <a:ext cx="2514600" cy="201168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00000"/>
                </a:solidFill>
              </a:defRPr>
            </a:pPr>
            <a:r>
              <a:t>5. Save item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5646420" y="5120640"/>
            <a:ext cx="2194559" cy="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646420" y="4892040"/>
            <a:ext cx="2423159" cy="201168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00000"/>
                </a:solidFill>
              </a:defRPr>
            </a:pPr>
            <a:r>
              <a:t>6. Return response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3451860" y="5669280"/>
            <a:ext cx="2194560" cy="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451860" y="5440680"/>
            <a:ext cx="2423160" cy="201168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00000"/>
                </a:solidFill>
              </a:defRPr>
            </a:pPr>
            <a:r>
              <a:t>7. Update interface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411480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</a:defRPr>
            </a:pPr>
            <a:r>
              <a:t>4. UML Class Diagram — Conceptual Domain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58368"/>
            <a:ext cx="10972800" cy="228600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0000"/>
                </a:solidFill>
              </a:defRPr>
            </a:pPr>
            <a:r>
              <a:t>Conceptual model from documented features; verify exact code types before submission.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17320"/>
            <a:ext cx="2011680" cy="1645920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Project</a:t>
            </a:r>
          </a:p>
          <a:p>
            <a:pPr algn="ctr">
              <a:defRPr sz="1000" b="0">
                <a:solidFill>
                  <a:srgbClr val="000000"/>
                </a:solidFill>
              </a:defRPr>
            </a:pPr>
            <a:r>
              <a:t>──────────</a:t>
            </a:r>
          </a:p>
          <a:p>
            <a:pPr algn="ctr">
              <a:defRPr sz="1000" b="0">
                <a:solidFill>
                  <a:srgbClr val="000000"/>
                </a:solidFill>
              </a:defRPr>
            </a:pPr>
            <a:r>
              <a:t>+ id</a:t>
            </a:r>
          </a:p>
          <a:p>
            <a:pPr algn="ctr">
              <a:defRPr sz="1000" b="0">
                <a:solidFill>
                  <a:srgbClr val="000000"/>
                </a:solidFill>
              </a:defRPr>
            </a:pPr>
            <a:r>
              <a:t>+ name</a:t>
            </a:r>
          </a:p>
          <a:p>
            <a:pPr algn="ctr">
              <a:defRPr sz="1000" b="0">
                <a:solidFill>
                  <a:srgbClr val="000000"/>
                </a:solidFill>
              </a:defRPr>
            </a:pPr>
            <a:r>
              <a:t>+ description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88920" y="1417320"/>
            <a:ext cx="2011680" cy="1645920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Sprint</a:t>
            </a:r>
          </a:p>
          <a:p>
            <a:pPr algn="ctr">
              <a:defRPr sz="1000" b="0">
                <a:solidFill>
                  <a:srgbClr val="000000"/>
                </a:solidFill>
              </a:defRPr>
            </a:pPr>
            <a:r>
              <a:t>──────────</a:t>
            </a:r>
          </a:p>
          <a:p>
            <a:pPr algn="ctr">
              <a:defRPr sz="1000" b="0">
                <a:solidFill>
                  <a:srgbClr val="000000"/>
                </a:solidFill>
              </a:defRPr>
            </a:pPr>
            <a:r>
              <a:t>+ id</a:t>
            </a:r>
          </a:p>
          <a:p>
            <a:pPr algn="ctr">
              <a:defRPr sz="1000" b="0">
                <a:solidFill>
                  <a:srgbClr val="000000"/>
                </a:solidFill>
              </a:defRPr>
            </a:pPr>
            <a:r>
              <a:t>+ name</a:t>
            </a:r>
          </a:p>
          <a:p>
            <a:pPr algn="ctr">
              <a:defRPr sz="1000" b="0">
                <a:solidFill>
                  <a:srgbClr val="000000"/>
                </a:solidFill>
              </a:defRPr>
            </a:pPr>
            <a:r>
              <a:t>+ dates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0" y="1417320"/>
            <a:ext cx="2011680" cy="1645920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WorkItem</a:t>
            </a:r>
          </a:p>
          <a:p>
            <a:pPr algn="ctr">
              <a:defRPr sz="1000" b="0">
                <a:solidFill>
                  <a:srgbClr val="000000"/>
                </a:solidFill>
              </a:defRPr>
            </a:pPr>
            <a:r>
              <a:t>──────────</a:t>
            </a:r>
          </a:p>
          <a:p>
            <a:pPr algn="ctr">
              <a:defRPr sz="1000" b="0">
                <a:solidFill>
                  <a:srgbClr val="000000"/>
                </a:solidFill>
              </a:defRPr>
            </a:pPr>
            <a:r>
              <a:t>+ id</a:t>
            </a:r>
          </a:p>
          <a:p>
            <a:pPr algn="ctr">
              <a:defRPr sz="1000" b="0">
                <a:solidFill>
                  <a:srgbClr val="000000"/>
                </a:solidFill>
              </a:defRPr>
            </a:pPr>
            <a:r>
              <a:t>+ title</a:t>
            </a:r>
          </a:p>
          <a:p>
            <a:pPr algn="ctr">
              <a:defRPr sz="1000" b="0">
                <a:solidFill>
                  <a:srgbClr val="000000"/>
                </a:solidFill>
              </a:defRPr>
            </a:pPr>
            <a:r>
              <a:t>+ type / status</a:t>
            </a:r>
          </a:p>
        </p:txBody>
      </p:sp>
      <p:sp>
        <p:nvSpPr>
          <p:cNvPr id="7" name="Rectangle 6"/>
          <p:cNvSpPr/>
          <p:nvPr/>
        </p:nvSpPr>
        <p:spPr>
          <a:xfrm>
            <a:off x="7452360" y="1417320"/>
            <a:ext cx="2011680" cy="1645920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TestCase</a:t>
            </a:r>
          </a:p>
          <a:p>
            <a:pPr algn="ctr">
              <a:defRPr sz="1000" b="0">
                <a:solidFill>
                  <a:srgbClr val="000000"/>
                </a:solidFill>
              </a:defRPr>
            </a:pPr>
            <a:r>
              <a:t>──────────</a:t>
            </a:r>
          </a:p>
          <a:p>
            <a:pPr algn="ctr">
              <a:defRPr sz="1000" b="0">
                <a:solidFill>
                  <a:srgbClr val="000000"/>
                </a:solidFill>
              </a:defRPr>
            </a:pPr>
            <a:r>
              <a:t>+ id</a:t>
            </a:r>
          </a:p>
          <a:p>
            <a:pPr algn="ctr">
              <a:defRPr sz="1000" b="0">
                <a:solidFill>
                  <a:srgbClr val="000000"/>
                </a:solidFill>
              </a:defRPr>
            </a:pPr>
            <a:r>
              <a:t>+ title</a:t>
            </a:r>
          </a:p>
          <a:p>
            <a:pPr algn="ctr">
              <a:defRPr sz="1000" b="0">
                <a:solidFill>
                  <a:srgbClr val="000000"/>
                </a:solidFill>
              </a:defRPr>
            </a:pPr>
            <a:r>
              <a:t>+ expected result</a:t>
            </a:r>
          </a:p>
        </p:txBody>
      </p:sp>
      <p:sp>
        <p:nvSpPr>
          <p:cNvPr id="8" name="Rectangle 7"/>
          <p:cNvSpPr/>
          <p:nvPr/>
        </p:nvSpPr>
        <p:spPr>
          <a:xfrm>
            <a:off x="1645920" y="4069080"/>
            <a:ext cx="201168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TestRun</a:t>
            </a:r>
          </a:p>
          <a:p>
            <a:pPr algn="ctr">
              <a:defRPr sz="1000" b="0">
                <a:solidFill>
                  <a:srgbClr val="000000"/>
                </a:solidFill>
              </a:defRPr>
            </a:pPr>
            <a:r>
              <a:t>──────────</a:t>
            </a:r>
          </a:p>
          <a:p>
            <a:pPr algn="ctr">
              <a:defRPr sz="1000" b="0">
                <a:solidFill>
                  <a:srgbClr val="000000"/>
                </a:solidFill>
              </a:defRPr>
            </a:pPr>
            <a:r>
              <a:t>+ id</a:t>
            </a:r>
          </a:p>
          <a:p>
            <a:pPr algn="ctr">
              <a:defRPr sz="1000" b="0">
                <a:solidFill>
                  <a:srgbClr val="000000"/>
                </a:solidFill>
              </a:defRPr>
            </a:pPr>
            <a:r>
              <a:t>+ status</a:t>
            </a:r>
          </a:p>
          <a:p>
            <a:pPr algn="ctr">
              <a:defRPr sz="1000" b="0">
                <a:solidFill>
                  <a:srgbClr val="000000"/>
                </a:solidFill>
              </a:defRPr>
            </a:pPr>
            <a:r>
              <a:t>+ notes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4069080"/>
            <a:ext cx="228600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RetroAction</a:t>
            </a:r>
          </a:p>
          <a:p>
            <a:pPr algn="ctr">
              <a:defRPr sz="1000" b="0">
                <a:solidFill>
                  <a:srgbClr val="000000"/>
                </a:solidFill>
              </a:defRPr>
            </a:pPr>
            <a:r>
              <a:t>──────────</a:t>
            </a:r>
          </a:p>
          <a:p>
            <a:pPr algn="ctr">
              <a:defRPr sz="1000" b="0">
                <a:solidFill>
                  <a:srgbClr val="000000"/>
                </a:solidFill>
              </a:defRPr>
            </a:pPr>
            <a:r>
              <a:t>+ id</a:t>
            </a:r>
          </a:p>
          <a:p>
            <a:pPr algn="ctr">
              <a:defRPr sz="1000" b="0">
                <a:solidFill>
                  <a:srgbClr val="000000"/>
                </a:solidFill>
              </a:defRPr>
            </a:pPr>
            <a:r>
              <a:t>+ description</a:t>
            </a:r>
          </a:p>
          <a:p>
            <a:pPr algn="ctr">
              <a:defRPr sz="1000" b="0">
                <a:solidFill>
                  <a:srgbClr val="000000"/>
                </a:solidFill>
              </a:defRPr>
            </a:pPr>
            <a:r>
              <a:t>+ convertedWorkItemId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79" y="4069080"/>
            <a:ext cx="201168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Release</a:t>
            </a:r>
          </a:p>
          <a:p>
            <a:pPr algn="ctr">
              <a:defRPr sz="1000" b="0">
                <a:solidFill>
                  <a:srgbClr val="000000"/>
                </a:solidFill>
              </a:defRPr>
            </a:pPr>
            <a:r>
              <a:t>──────────</a:t>
            </a:r>
          </a:p>
          <a:p>
            <a:pPr algn="ctr">
              <a:defRPr sz="1000" b="0">
                <a:solidFill>
                  <a:srgbClr val="000000"/>
                </a:solidFill>
              </a:defRPr>
            </a:pPr>
            <a:r>
              <a:t>+ id</a:t>
            </a:r>
          </a:p>
          <a:p>
            <a:pPr algn="ctr">
              <a:defRPr sz="1000" b="0">
                <a:solidFill>
                  <a:srgbClr val="000000"/>
                </a:solidFill>
              </a:defRPr>
            </a:pPr>
            <a:r>
              <a:t>+ version</a:t>
            </a:r>
          </a:p>
          <a:p>
            <a:pPr algn="ctr">
              <a:defRPr sz="1000" b="0">
                <a:solidFill>
                  <a:srgbClr val="000000"/>
                </a:solidFill>
              </a:defRPr>
            </a:pPr>
            <a:r>
              <a:t>+ publishedAt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468880" y="2240280"/>
            <a:ext cx="320040" cy="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800600" y="2240280"/>
            <a:ext cx="320040" cy="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132320" y="2240280"/>
            <a:ext cx="320040" cy="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5806440" y="3063240"/>
            <a:ext cx="320040" cy="100584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458200" y="3063240"/>
            <a:ext cx="502920" cy="100584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3657600" y="2926080"/>
            <a:ext cx="1737360" cy="114300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0000"/>
                </a:solidFill>
              </a:defRPr>
            </a:pPr>
            <a:r>
              <a:t>5. UML Component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5836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0000"/>
                </a:solidFill>
              </a:defRPr>
            </a:pPr>
            <a:r>
              <a:t>Stride — Agile Project Management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874519"/>
            <a:ext cx="1965960" cy="777240"/>
          </a:xfrm>
          <a:prstGeom prst="rect">
            <a:avLst/>
          </a:prstGeom>
          <a:solidFill>
            <a:srgbClr val="FFFFFF"/>
          </a:solidFill>
          <a:ln w="1778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36576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React Frontend</a:t>
            </a:r>
          </a:p>
          <a:p>
            <a:pPr algn="ctr">
              <a:defRPr sz="1100" b="0">
                <a:solidFill>
                  <a:srgbClr val="000000"/>
                </a:solidFill>
              </a:defRPr>
            </a:pPr>
            <a:r>
              <a:t>(User Interface)</a:t>
            </a:r>
          </a:p>
        </p:txBody>
      </p:sp>
      <p:sp>
        <p:nvSpPr>
          <p:cNvPr id="5" name="Rectangle 4"/>
          <p:cNvSpPr/>
          <p:nvPr/>
        </p:nvSpPr>
        <p:spPr>
          <a:xfrm>
            <a:off x="2971800" y="1874519"/>
            <a:ext cx="1965960" cy="777240"/>
          </a:xfrm>
          <a:prstGeom prst="rect">
            <a:avLst/>
          </a:prstGeom>
          <a:solidFill>
            <a:srgbClr val="FFFFFF"/>
          </a:solidFill>
          <a:ln w="1778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36576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Typed API Client</a:t>
            </a:r>
          </a:p>
          <a:p>
            <a:pPr algn="ctr">
              <a:defRPr sz="1100" b="0">
                <a:solidFill>
                  <a:srgbClr val="000000"/>
                </a:solidFill>
              </a:defRPr>
            </a:pPr>
            <a:r>
              <a:t>(HTTP Requests)</a:t>
            </a:r>
          </a:p>
        </p:txBody>
      </p:sp>
      <p:sp>
        <p:nvSpPr>
          <p:cNvPr id="6" name="Rectangle 5"/>
          <p:cNvSpPr/>
          <p:nvPr/>
        </p:nvSpPr>
        <p:spPr>
          <a:xfrm>
            <a:off x="5349240" y="1874519"/>
            <a:ext cx="1965960" cy="777240"/>
          </a:xfrm>
          <a:prstGeom prst="rect">
            <a:avLst/>
          </a:prstGeom>
          <a:solidFill>
            <a:srgbClr val="FFFFFF"/>
          </a:solidFill>
          <a:ln w="1778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36576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Express REST API</a:t>
            </a:r>
          </a:p>
          <a:p>
            <a:pPr algn="ctr">
              <a:defRPr sz="1100" b="0">
                <a:solidFill>
                  <a:srgbClr val="000000"/>
                </a:solidFill>
              </a:defRPr>
            </a:pPr>
            <a:r>
              <a:t>(Backend)</a:t>
            </a:r>
          </a:p>
        </p:txBody>
      </p:sp>
      <p:sp>
        <p:nvSpPr>
          <p:cNvPr id="7" name="Rectangle 6"/>
          <p:cNvSpPr/>
          <p:nvPr/>
        </p:nvSpPr>
        <p:spPr>
          <a:xfrm>
            <a:off x="7726679" y="1874519"/>
            <a:ext cx="1965960" cy="777240"/>
          </a:xfrm>
          <a:prstGeom prst="rect">
            <a:avLst/>
          </a:prstGeom>
          <a:solidFill>
            <a:srgbClr val="FFFFFF"/>
          </a:solidFill>
          <a:ln w="1778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36576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t>Authentication</a:t>
            </a:r>
          </a:p>
          <a:p>
            <a:pPr algn="ctr">
              <a:defRPr sz="1000" b="0">
                <a:solidFill>
                  <a:srgbClr val="000000"/>
                </a:solidFill>
              </a:defRPr>
            </a:pPr>
            <a:r>
              <a:t>&amp; RBAC Middleware</a:t>
            </a:r>
          </a:p>
        </p:txBody>
      </p:sp>
      <p:sp>
        <p:nvSpPr>
          <p:cNvPr id="8" name="Rectangle 7"/>
          <p:cNvSpPr/>
          <p:nvPr/>
        </p:nvSpPr>
        <p:spPr>
          <a:xfrm>
            <a:off x="5349240" y="3703320"/>
            <a:ext cx="1965960" cy="822960"/>
          </a:xfrm>
          <a:prstGeom prst="rect">
            <a:avLst/>
          </a:prstGeom>
          <a:solidFill>
            <a:srgbClr val="FFFFFF"/>
          </a:solidFill>
          <a:ln w="1778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36576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t>Route Controllers</a:t>
            </a:r>
          </a:p>
          <a:p>
            <a:pPr algn="ctr">
              <a:defRPr sz="1000" b="0">
                <a:solidFill>
                  <a:srgbClr val="000000"/>
                </a:solidFill>
              </a:defRPr>
            </a:pPr>
            <a:r>
              <a:t>&amp; Business Logic</a:t>
            </a:r>
          </a:p>
        </p:txBody>
      </p:sp>
      <p:sp>
        <p:nvSpPr>
          <p:cNvPr id="9" name="Rectangle 8"/>
          <p:cNvSpPr/>
          <p:nvPr/>
        </p:nvSpPr>
        <p:spPr>
          <a:xfrm>
            <a:off x="7726679" y="3703320"/>
            <a:ext cx="1965960" cy="822960"/>
          </a:xfrm>
          <a:prstGeom prst="rect">
            <a:avLst/>
          </a:prstGeom>
          <a:solidFill>
            <a:srgbClr val="FFFFFF"/>
          </a:solidFill>
          <a:ln w="1778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36576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Storage Adapter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26679" y="5074920"/>
            <a:ext cx="1965960" cy="685800"/>
          </a:xfrm>
          <a:prstGeom prst="rect">
            <a:avLst/>
          </a:prstGeom>
          <a:solidFill>
            <a:srgbClr val="FFFFFF"/>
          </a:solidFill>
          <a:ln w="1778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36576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t>Local JSON Store</a:t>
            </a:r>
          </a:p>
          <a:p>
            <a:pPr algn="ctr">
              <a:defRPr sz="1000" b="0">
                <a:solidFill>
                  <a:srgbClr val="000000"/>
                </a:solidFill>
              </a:defRPr>
            </a:pPr>
            <a:r>
              <a:t>(ACTIVE)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12680" y="3703320"/>
            <a:ext cx="1645920" cy="822960"/>
          </a:xfrm>
          <a:prstGeom prst="rect">
            <a:avLst/>
          </a:prstGeom>
          <a:solidFill>
            <a:srgbClr val="FFFFFF"/>
          </a:solidFill>
          <a:ln w="1778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36576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t>Supabase</a:t>
            </a:r>
          </a:p>
          <a:p>
            <a:pPr algn="ctr">
              <a:defRPr sz="1000" b="0">
                <a:solidFill>
                  <a:srgbClr val="000000"/>
                </a:solidFill>
              </a:defRPr>
            </a:pPr>
            <a:r>
              <a:t>(Adapter only)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60320" y="2267712"/>
            <a:ext cx="411480" cy="0"/>
          </a:xfrm>
          <a:prstGeom prst="line">
            <a:avLst/>
          </a:prstGeom>
          <a:ln w="177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937760" y="2267712"/>
            <a:ext cx="411480" cy="0"/>
          </a:xfrm>
          <a:prstGeom prst="line">
            <a:avLst/>
          </a:prstGeom>
          <a:ln w="177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315200" y="2267712"/>
            <a:ext cx="411479" cy="0"/>
          </a:xfrm>
          <a:prstGeom prst="line">
            <a:avLst/>
          </a:prstGeom>
          <a:ln w="177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6400800" y="2651760"/>
            <a:ext cx="2304288" cy="1051560"/>
          </a:xfrm>
          <a:prstGeom prst="line">
            <a:avLst/>
          </a:prstGeom>
          <a:ln w="177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315200" y="4114800"/>
            <a:ext cx="411479" cy="0"/>
          </a:xfrm>
          <a:prstGeom prst="line">
            <a:avLst/>
          </a:prstGeom>
          <a:ln w="177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705088" y="4526280"/>
            <a:ext cx="0" cy="548640"/>
          </a:xfrm>
          <a:prstGeom prst="line">
            <a:avLst/>
          </a:prstGeom>
          <a:ln w="177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692640" y="4114800"/>
            <a:ext cx="320040" cy="0"/>
          </a:xfrm>
          <a:prstGeom prst="line">
            <a:avLst/>
          </a:prstGeom>
          <a:ln w="17780">
            <a:solidFill>
              <a:srgbClr val="0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498079" y="59893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0000"/>
                </a:solidFill>
              </a:defRPr>
            </a:pPr>
            <a:r>
              <a:t>Supabase is not currently configured or connected.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411480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</a:defRPr>
            </a:pPr>
            <a:r>
              <a:t>5. UML Component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58368"/>
            <a:ext cx="10972800" cy="228600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0000"/>
                </a:solidFill>
              </a:defRPr>
            </a:pPr>
            <a:r>
              <a:t>Stride — Agile Project Management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011680"/>
            <a:ext cx="182880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t>React</a:t>
            </a:r>
          </a:p>
          <a:p>
            <a:pPr algn="ctr">
              <a:defRPr sz="1000" b="0">
                <a:solidFill>
                  <a:srgbClr val="000000"/>
                </a:solidFill>
              </a:defRPr>
            </a:pPr>
            <a:r>
              <a:t>Frontend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88920" y="2011680"/>
            <a:ext cx="182880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t>Typed API</a:t>
            </a:r>
          </a:p>
          <a:p>
            <a:pPr algn="ctr">
              <a:defRPr sz="1000" b="0">
                <a:solidFill>
                  <a:srgbClr val="000000"/>
                </a:solidFill>
              </a:defRPr>
            </a:pPr>
            <a:r>
              <a:t>Client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40" y="2011680"/>
            <a:ext cx="182880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t>Express</a:t>
            </a:r>
          </a:p>
          <a:p>
            <a:pPr algn="ctr">
              <a:defRPr sz="1000" b="0">
                <a:solidFill>
                  <a:srgbClr val="000000"/>
                </a:solidFill>
              </a:defRPr>
            </a:pPr>
            <a:r>
              <a:t>REST 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52360" y="2011680"/>
            <a:ext cx="182880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t>Auth / RBAC</a:t>
            </a:r>
          </a:p>
          <a:p>
            <a:pPr algn="ctr">
              <a:defRPr sz="1000" b="0">
                <a:solidFill>
                  <a:srgbClr val="000000"/>
                </a:solidFill>
              </a:defRPr>
            </a:pPr>
            <a:r>
              <a:t>Middleware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0" y="3931920"/>
            <a:ext cx="182880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t>Route Controllers</a:t>
            </a:r>
          </a:p>
          <a:p>
            <a:pPr algn="ctr">
              <a:defRPr sz="1000" b="0">
                <a:solidFill>
                  <a:srgbClr val="000000"/>
                </a:solidFill>
              </a:defRPr>
            </a:pPr>
            <a:r>
              <a:t>&amp; Logic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3931920"/>
            <a:ext cx="201168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t>Storage Adapter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5303520"/>
            <a:ext cx="2011680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t>Local JSON Store</a:t>
            </a:r>
          </a:p>
          <a:p>
            <a:pPr algn="ctr">
              <a:defRPr sz="1000" b="0">
                <a:solidFill>
                  <a:srgbClr val="000000"/>
                </a:solidFill>
              </a:defRPr>
            </a:pPr>
            <a:r>
              <a:t>(active)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0" y="3931920"/>
            <a:ext cx="164592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t>Supabase</a:t>
            </a:r>
          </a:p>
          <a:p>
            <a:pPr algn="ctr">
              <a:defRPr sz="1000" b="0">
                <a:solidFill>
                  <a:srgbClr val="000000"/>
                </a:solidFill>
              </a:defRPr>
            </a:pPr>
            <a:r>
              <a:t>adapter only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86000" y="2468880"/>
            <a:ext cx="502920" cy="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617720" y="2468880"/>
            <a:ext cx="502920" cy="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949440" y="2468880"/>
            <a:ext cx="502920" cy="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6035040" y="2514600"/>
            <a:ext cx="2331720" cy="141732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949440" y="4389120"/>
            <a:ext cx="640080" cy="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595360" y="4846320"/>
            <a:ext cx="0" cy="45720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601200" y="4389120"/>
            <a:ext cx="457200" cy="0"/>
          </a:xfrm>
          <a:prstGeom prst="line">
            <a:avLst/>
          </a:prstGeom>
          <a:ln w="15240">
            <a:solidFill>
              <a:srgbClr val="0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498079" y="6080760"/>
            <a:ext cx="3931920" cy="228600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000000"/>
                </a:solidFill>
              </a:defRPr>
            </a:pPr>
            <a:r>
              <a:t>Supabase is not currently configured or connected.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411480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</a:defRPr>
            </a:pPr>
            <a:r>
              <a:t>6. UML Deployment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58368"/>
            <a:ext cx="10972800" cy="228600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0000"/>
                </a:solidFill>
              </a:defRPr>
            </a:pPr>
            <a:r>
              <a:t>Stride — Agile Project Management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2103120"/>
            <a:ext cx="205740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0000"/>
                </a:solidFill>
              </a:defRPr>
            </a:pPr>
            <a:r>
              <a:t>User Device</a:t>
            </a:r>
          </a:p>
          <a:p>
            <a:pPr algn="ctr">
              <a:defRPr sz="1200" b="0">
                <a:solidFill>
                  <a:srgbClr val="000000"/>
                </a:solidFill>
              </a:defRPr>
            </a:pPr>
            <a:r>
              <a:t>Web Browser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2103120"/>
            <a:ext cx="219456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0000"/>
                </a:solidFill>
              </a:defRPr>
            </a:pPr>
            <a:r>
              <a:t>Frontend Runtime</a:t>
            </a:r>
          </a:p>
          <a:p>
            <a:pPr algn="ctr">
              <a:defRPr sz="1200" b="0">
                <a:solidFill>
                  <a:srgbClr val="000000"/>
                </a:solidFill>
              </a:defRPr>
            </a:pPr>
            <a:r>
              <a:t>React + Vite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2103120"/>
            <a:ext cx="224028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0000"/>
                </a:solidFill>
              </a:defRPr>
            </a:pPr>
            <a:r>
              <a:t>Backend Server</a:t>
            </a:r>
          </a:p>
          <a:p>
            <a:pPr algn="ctr">
              <a:defRPr sz="1200" b="0">
                <a:solidFill>
                  <a:srgbClr val="000000"/>
                </a:solidFill>
              </a:defRPr>
            </a:pPr>
            <a:r>
              <a:t>Node.js + Express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2103120"/>
            <a:ext cx="205740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0000"/>
                </a:solidFill>
              </a:defRPr>
            </a:pPr>
            <a:r>
              <a:t>File Storage</a:t>
            </a:r>
          </a:p>
          <a:p>
            <a:pPr algn="ctr">
              <a:defRPr sz="1100" b="0">
                <a:solidFill>
                  <a:srgbClr val="000000"/>
                </a:solidFill>
              </a:defRPr>
            </a:pPr>
            <a:r>
              <a:t>stride-store.json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651760" y="2560320"/>
            <a:ext cx="731520" cy="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577840" y="2560320"/>
            <a:ext cx="822960" cy="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641080" y="2560320"/>
            <a:ext cx="960120" cy="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400800" y="3977639"/>
            <a:ext cx="2240280" cy="731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Supabase PostgreSQL</a:t>
            </a:r>
          </a:p>
          <a:p>
            <a:pPr algn="ctr">
              <a:defRPr sz="1000" b="0">
                <a:solidFill>
                  <a:srgbClr val="000000"/>
                </a:solidFill>
              </a:defRPr>
            </a:pPr>
            <a:r>
              <a:t>optional / unconfigured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498079" y="3017520"/>
            <a:ext cx="0" cy="960119"/>
          </a:xfrm>
          <a:prstGeom prst="line">
            <a:avLst/>
          </a:prstGeom>
          <a:ln w="15240">
            <a:solidFill>
              <a:srgbClr val="0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229600" y="3337560"/>
            <a:ext cx="2743200" cy="228600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00000"/>
                </a:solidFill>
              </a:defRPr>
            </a:pPr>
            <a:r>
              <a:t>Optional adapter path only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411480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</a:defRPr>
            </a:pPr>
            <a:r>
              <a:t>7. UML State Machine Diagram — Work Item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58368"/>
            <a:ext cx="10972800" cy="228600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0000"/>
                </a:solidFill>
              </a:defRPr>
            </a:pPr>
            <a:r>
              <a:t>Illustrative workflow; verify exact status labels and transitions in the running app.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468880"/>
            <a:ext cx="1600200" cy="731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0000"/>
                </a:solidFill>
              </a:defRPr>
            </a:pPr>
            <a:r>
              <a:t>Backlog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2468880"/>
            <a:ext cx="1600200" cy="731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0000"/>
                </a:solidFill>
              </a:defRPr>
            </a:pPr>
            <a:r>
              <a:t>To 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83480" y="2468880"/>
            <a:ext cx="1600200" cy="731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0000"/>
                </a:solidFill>
              </a:defRPr>
            </a:pPr>
            <a:r>
              <a:t>In Progress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60" y="2468880"/>
            <a:ext cx="1600200" cy="731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0000"/>
                </a:solidFill>
              </a:defRPr>
            </a:pPr>
            <a:r>
              <a:t>In Review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64040" y="2468880"/>
            <a:ext cx="1600200" cy="731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0000"/>
                </a:solidFill>
              </a:defRPr>
            </a:pPr>
            <a:r>
              <a:t>Done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03120" y="2834640"/>
            <a:ext cx="640080" cy="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343400" y="2834640"/>
            <a:ext cx="640080" cy="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583680" y="2834640"/>
            <a:ext cx="640080" cy="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823960" y="2834640"/>
            <a:ext cx="640080" cy="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5760720" y="3200400"/>
            <a:ext cx="2286000" cy="914400"/>
          </a:xfrm>
          <a:prstGeom prst="line">
            <a:avLst/>
          </a:prstGeom>
          <a:ln w="15240">
            <a:solidFill>
              <a:srgbClr val="0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 flipV="1">
            <a:off x="3566160" y="3200400"/>
            <a:ext cx="2194560" cy="914400"/>
          </a:xfrm>
          <a:prstGeom prst="line">
            <a:avLst/>
          </a:prstGeom>
          <a:ln w="15240">
            <a:solidFill>
              <a:srgbClr val="0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297680" y="4160520"/>
            <a:ext cx="3200400" cy="228600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txBody>
          <a:bodyPr wrap="none">
            <a:spAutoFit/>
          </a:bodyPr>
          <a:lstStyle/>
          <a:p>
            <a:pPr>
              <a:defRPr sz="900">
                <a:solidFill>
                  <a:srgbClr val="000000"/>
                </a:solidFill>
              </a:defRPr>
            </a:pPr>
            <a:r>
              <a:t>Rework requested (illustrative)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411480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</a:defRPr>
            </a:pPr>
            <a:r>
              <a:t>8. UML Sequence Diagram — Retrospective to Task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58368"/>
            <a:ext cx="10972800" cy="228600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0000"/>
                </a:solidFill>
              </a:defRPr>
            </a:pPr>
            <a:r>
              <a:t>Stride — Agile Project Management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141732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t>Member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257300" y="1737360"/>
            <a:ext cx="0" cy="4343400"/>
          </a:xfrm>
          <a:prstGeom prst="line">
            <a:avLst/>
          </a:prstGeom>
          <a:ln w="15240">
            <a:solidFill>
              <a:srgbClr val="0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743200" y="1234440"/>
            <a:ext cx="141732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t>React UI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451860" y="1737360"/>
            <a:ext cx="0" cy="4343400"/>
          </a:xfrm>
          <a:prstGeom prst="line">
            <a:avLst/>
          </a:prstGeom>
          <a:ln w="15240">
            <a:solidFill>
              <a:srgbClr val="0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937760" y="1234440"/>
            <a:ext cx="141732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t>Express API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646420" y="1737360"/>
            <a:ext cx="0" cy="4343400"/>
          </a:xfrm>
          <a:prstGeom prst="line">
            <a:avLst/>
          </a:prstGeom>
          <a:ln w="15240">
            <a:solidFill>
              <a:srgbClr val="0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132320" y="1234440"/>
            <a:ext cx="141732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t>Retro Route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840979" y="1737360"/>
            <a:ext cx="0" cy="4343400"/>
          </a:xfrm>
          <a:prstGeom prst="line">
            <a:avLst/>
          </a:prstGeom>
          <a:ln w="15240">
            <a:solidFill>
              <a:srgbClr val="0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418320" y="1234440"/>
            <a:ext cx="141732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0000"/>
                </a:solidFill>
              </a:defRPr>
            </a:pPr>
            <a:r>
              <a:t>Storage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126980" y="1737360"/>
            <a:ext cx="0" cy="4343400"/>
          </a:xfrm>
          <a:prstGeom prst="line">
            <a:avLst/>
          </a:prstGeom>
          <a:ln w="15240">
            <a:solidFill>
              <a:srgbClr val="00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257300" y="2011680"/>
            <a:ext cx="2194560" cy="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257300" y="1783080"/>
            <a:ext cx="2423160" cy="201168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00000"/>
                </a:solidFill>
              </a:defRPr>
            </a:pPr>
            <a:r>
              <a:t>1. Select action item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451860" y="2651760"/>
            <a:ext cx="2194560" cy="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451860" y="2423160"/>
            <a:ext cx="2423160" cy="201168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00000"/>
                </a:solidFill>
              </a:defRPr>
            </a:pPr>
            <a:r>
              <a:t>2. Send conversion request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646420" y="3291840"/>
            <a:ext cx="2194559" cy="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646420" y="3063240"/>
            <a:ext cx="2423159" cy="201168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00000"/>
                </a:solidFill>
              </a:defRPr>
            </a:pPr>
            <a:r>
              <a:t>3. Validate action item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840979" y="3931920"/>
            <a:ext cx="2286001" cy="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840979" y="3703320"/>
            <a:ext cx="2514600" cy="201168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00000"/>
                </a:solidFill>
              </a:defRPr>
            </a:pPr>
            <a:r>
              <a:t>4. Create work item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7840979" y="4572000"/>
            <a:ext cx="2286001" cy="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840979" y="4343400"/>
            <a:ext cx="2514600" cy="201168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00000"/>
                </a:solidFill>
              </a:defRPr>
            </a:pPr>
            <a:r>
              <a:t>5. Save conversion link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5646420" y="5120640"/>
            <a:ext cx="2194559" cy="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646420" y="4892040"/>
            <a:ext cx="2423159" cy="201168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00000"/>
                </a:solidFill>
              </a:defRPr>
            </a:pPr>
            <a:r>
              <a:t>6. Return task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3451860" y="5669280"/>
            <a:ext cx="2194560" cy="0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451860" y="5440680"/>
            <a:ext cx="2423160" cy="201168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00000"/>
                </a:solidFill>
              </a:defRPr>
            </a:pPr>
            <a:r>
              <a:t>7. Refresh backlog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411480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</a:defRPr>
            </a:pPr>
            <a:r>
              <a:t>Diagram Pack — Accuracy 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658368"/>
            <a:ext cx="10972800" cy="228600"/>
          </a:xfrm>
          <a:prstGeom prst="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0000"/>
                </a:solidFill>
              </a:defRPr>
            </a:pPr>
            <a:r>
              <a:t>Stride — Agile Project Management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10698480" cy="4389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Based on the documented Stride feature set and architecture.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92808"/>
            <a:ext cx="10698480" cy="4389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Use Case, Activity and Sequence diagrams model key user workflows.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51176"/>
            <a:ext cx="10698480" cy="4389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Class diagram is conceptual; source-code class names may differ.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09544"/>
            <a:ext cx="10698480" cy="4389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Work-item states shown are illustrative; verify actual statuses.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67912"/>
            <a:ext cx="10698480" cy="4389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Active persistence is local JSON storage (stride-store.json).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526279"/>
            <a:ext cx="10698480" cy="4389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Supabase adapter/migrations exist, but Supabase is not configured/connected.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184648"/>
            <a:ext cx="10698480" cy="4389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000000"/>
                </a:solidFill>
              </a:defRPr>
            </a:pPr>
            <a:r>
              <a:t>Only claim integrations are live after verifying their configuration.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